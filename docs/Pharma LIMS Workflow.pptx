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omments/modernComment_12B_26DEA02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307" r:id="rId4"/>
    <p:sldId id="308" r:id="rId5"/>
    <p:sldId id="309" r:id="rId6"/>
    <p:sldId id="258" r:id="rId7"/>
    <p:sldId id="259" r:id="rId8"/>
    <p:sldId id="260" r:id="rId9"/>
    <p:sldId id="306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303" r:id="rId19"/>
    <p:sldId id="270" r:id="rId20"/>
    <p:sldId id="305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3F1BBE-0427-BDCA-28DC-A1BB43B02B60}" name="Harish kumar Kethavarapu" initials="HK" userId="S::harish.k@websynergies.com::3acaa604-8271-4a58-8528-7ae9ed43b6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D1F3C-010D-4BA6-8FF4-28F49A941765}" v="7" dt="2026-05-11T10:00:41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kumar Kethavarapu" userId="3acaa604-8271-4a58-8528-7ae9ed43b61c" providerId="ADAL" clId="{7DA0A9AD-AD4E-433B-ADA3-75F78AE5A5FF}"/>
    <pc:docChg chg="custSel addSld delSld modSld sldOrd">
      <pc:chgData name="Harish kumar Kethavarapu" userId="3acaa604-8271-4a58-8528-7ae9ed43b61c" providerId="ADAL" clId="{7DA0A9AD-AD4E-433B-ADA3-75F78AE5A5FF}" dt="2026-05-12T03:14:57.452" v="44" actId="1036"/>
      <pc:docMkLst>
        <pc:docMk/>
      </pc:docMkLst>
      <pc:sldChg chg="modSp mod">
        <pc:chgData name="Harish kumar Kethavarapu" userId="3acaa604-8271-4a58-8528-7ae9ed43b61c" providerId="ADAL" clId="{7DA0A9AD-AD4E-433B-ADA3-75F78AE5A5FF}" dt="2026-05-12T03:14:57.452" v="44" actId="1036"/>
        <pc:sldMkLst>
          <pc:docMk/>
          <pc:sldMk cId="0" sldId="256"/>
        </pc:sldMkLst>
        <pc:spChg chg="mod">
          <ac:chgData name="Harish kumar Kethavarapu" userId="3acaa604-8271-4a58-8528-7ae9ed43b61c" providerId="ADAL" clId="{7DA0A9AD-AD4E-433B-ADA3-75F78AE5A5FF}" dt="2026-05-12T03:14:57.452" v="44" actId="1036"/>
          <ac:spMkLst>
            <pc:docMk/>
            <pc:sldMk cId="0" sldId="256"/>
            <ac:spMk id="2" creationId="{00000000-0000-0000-0000-000000000000}"/>
          </ac:spMkLst>
        </pc:spChg>
      </pc:sldChg>
      <pc:sldChg chg="addSp modSp mod">
        <pc:chgData name="Harish kumar Kethavarapu" userId="3acaa604-8271-4a58-8528-7ae9ed43b61c" providerId="ADAL" clId="{7DA0A9AD-AD4E-433B-ADA3-75F78AE5A5FF}" dt="2026-05-11T09:43:32.649" v="10" actId="1076"/>
        <pc:sldMkLst>
          <pc:docMk/>
          <pc:sldMk cId="0" sldId="263"/>
        </pc:sldMkLst>
        <pc:picChg chg="add mod">
          <ac:chgData name="Harish kumar Kethavarapu" userId="3acaa604-8271-4a58-8528-7ae9ed43b61c" providerId="ADAL" clId="{7DA0A9AD-AD4E-433B-ADA3-75F78AE5A5FF}" dt="2026-05-11T09:43:32.649" v="10" actId="1076"/>
          <ac:picMkLst>
            <pc:docMk/>
            <pc:sldMk cId="0" sldId="263"/>
            <ac:picMk id="35" creationId="{75D8C743-0E88-7087-EB24-4FA85C403B24}"/>
          </ac:picMkLst>
        </pc:picChg>
      </pc:sldChg>
      <pc:sldChg chg="add del setBg">
        <pc:chgData name="Harish kumar Kethavarapu" userId="3acaa604-8271-4a58-8528-7ae9ed43b61c" providerId="ADAL" clId="{7DA0A9AD-AD4E-433B-ADA3-75F78AE5A5FF}" dt="2026-05-11T09:44:36.085" v="12" actId="47"/>
        <pc:sldMkLst>
          <pc:docMk/>
          <pc:sldMk cId="0" sldId="269"/>
        </pc:sldMkLst>
      </pc:sldChg>
      <pc:sldChg chg="del">
        <pc:chgData name="Harish kumar Kethavarapu" userId="3acaa604-8271-4a58-8528-7ae9ed43b61c" providerId="ADAL" clId="{7DA0A9AD-AD4E-433B-ADA3-75F78AE5A5FF}" dt="2026-05-11T09:44:53.602" v="18" actId="47"/>
        <pc:sldMkLst>
          <pc:docMk/>
          <pc:sldMk cId="0" sldId="271"/>
        </pc:sldMkLst>
      </pc:sldChg>
      <pc:sldChg chg="del">
        <pc:chgData name="Harish kumar Kethavarapu" userId="3acaa604-8271-4a58-8528-7ae9ed43b61c" providerId="ADAL" clId="{7DA0A9AD-AD4E-433B-ADA3-75F78AE5A5FF}" dt="2026-05-11T06:45:33.979" v="0" actId="2696"/>
        <pc:sldMkLst>
          <pc:docMk/>
          <pc:sldMk cId="0" sldId="299"/>
        </pc:sldMkLst>
      </pc:sldChg>
      <pc:sldChg chg="add">
        <pc:chgData name="Harish kumar Kethavarapu" userId="3acaa604-8271-4a58-8528-7ae9ed43b61c" providerId="ADAL" clId="{7DA0A9AD-AD4E-433B-ADA3-75F78AE5A5FF}" dt="2026-05-11T06:45:38.974" v="1"/>
        <pc:sldMkLst>
          <pc:docMk/>
          <pc:sldMk cId="652124197" sldId="299"/>
        </pc:sldMkLst>
      </pc:sldChg>
      <pc:sldChg chg="del">
        <pc:chgData name="Harish kumar Kethavarapu" userId="3acaa604-8271-4a58-8528-7ae9ed43b61c" providerId="ADAL" clId="{7DA0A9AD-AD4E-433B-ADA3-75F78AE5A5FF}" dt="2026-05-11T06:45:33.979" v="0" actId="2696"/>
        <pc:sldMkLst>
          <pc:docMk/>
          <pc:sldMk cId="0" sldId="300"/>
        </pc:sldMkLst>
      </pc:sldChg>
      <pc:sldChg chg="add">
        <pc:chgData name="Harish kumar Kethavarapu" userId="3acaa604-8271-4a58-8528-7ae9ed43b61c" providerId="ADAL" clId="{7DA0A9AD-AD4E-433B-ADA3-75F78AE5A5FF}" dt="2026-05-11T06:45:38.974" v="1"/>
        <pc:sldMkLst>
          <pc:docMk/>
          <pc:sldMk cId="3680570785" sldId="300"/>
        </pc:sldMkLst>
      </pc:sldChg>
      <pc:sldChg chg="del">
        <pc:chgData name="Harish kumar Kethavarapu" userId="3acaa604-8271-4a58-8528-7ae9ed43b61c" providerId="ADAL" clId="{7DA0A9AD-AD4E-433B-ADA3-75F78AE5A5FF}" dt="2026-05-11T06:45:33.979" v="0" actId="2696"/>
        <pc:sldMkLst>
          <pc:docMk/>
          <pc:sldMk cId="0" sldId="301"/>
        </pc:sldMkLst>
      </pc:sldChg>
      <pc:sldChg chg="add">
        <pc:chgData name="Harish kumar Kethavarapu" userId="3acaa604-8271-4a58-8528-7ae9ed43b61c" providerId="ADAL" clId="{7DA0A9AD-AD4E-433B-ADA3-75F78AE5A5FF}" dt="2026-05-11T06:45:38.974" v="1"/>
        <pc:sldMkLst>
          <pc:docMk/>
          <pc:sldMk cId="4054760871" sldId="301"/>
        </pc:sldMkLst>
      </pc:sldChg>
      <pc:sldChg chg="add del setBg">
        <pc:chgData name="Harish kumar Kethavarapu" userId="3acaa604-8271-4a58-8528-7ae9ed43b61c" providerId="ADAL" clId="{7DA0A9AD-AD4E-433B-ADA3-75F78AE5A5FF}" dt="2026-05-11T09:33:45.026" v="7" actId="47"/>
        <pc:sldMkLst>
          <pc:docMk/>
          <pc:sldMk cId="0" sldId="302"/>
        </pc:sldMkLst>
      </pc:sldChg>
      <pc:sldChg chg="add del setBg">
        <pc:chgData name="Harish kumar Kethavarapu" userId="3acaa604-8271-4a58-8528-7ae9ed43b61c" providerId="ADAL" clId="{7DA0A9AD-AD4E-433B-ADA3-75F78AE5A5FF}" dt="2026-05-11T09:44:29.089" v="11" actId="2696"/>
        <pc:sldMkLst>
          <pc:docMk/>
          <pc:sldMk cId="0" sldId="303"/>
        </pc:sldMkLst>
      </pc:sldChg>
      <pc:sldChg chg="add ord">
        <pc:chgData name="Harish kumar Kethavarapu" userId="3acaa604-8271-4a58-8528-7ae9ed43b61c" providerId="ADAL" clId="{7DA0A9AD-AD4E-433B-ADA3-75F78AE5A5FF}" dt="2026-05-11T09:44:38.943" v="15"/>
        <pc:sldMkLst>
          <pc:docMk/>
          <pc:sldMk cId="898154092" sldId="303"/>
        </pc:sldMkLst>
      </pc:sldChg>
      <pc:sldChg chg="add del setBg">
        <pc:chgData name="Harish kumar Kethavarapu" userId="3acaa604-8271-4a58-8528-7ae9ed43b61c" providerId="ADAL" clId="{7DA0A9AD-AD4E-433B-ADA3-75F78AE5A5FF}" dt="2026-05-11T09:33:18.775" v="5" actId="47"/>
        <pc:sldMkLst>
          <pc:docMk/>
          <pc:sldMk cId="0" sldId="304"/>
        </pc:sldMkLst>
      </pc:sldChg>
      <pc:sldChg chg="add del setBg">
        <pc:chgData name="Harish kumar Kethavarapu" userId="3acaa604-8271-4a58-8528-7ae9ed43b61c" providerId="ADAL" clId="{7DA0A9AD-AD4E-433B-ADA3-75F78AE5A5FF}" dt="2026-05-11T09:44:42.675" v="16" actId="2696"/>
        <pc:sldMkLst>
          <pc:docMk/>
          <pc:sldMk cId="0" sldId="305"/>
        </pc:sldMkLst>
      </pc:sldChg>
      <pc:sldChg chg="add">
        <pc:chgData name="Harish kumar Kethavarapu" userId="3acaa604-8271-4a58-8528-7ae9ed43b61c" providerId="ADAL" clId="{7DA0A9AD-AD4E-433B-ADA3-75F78AE5A5FF}" dt="2026-05-11T09:44:51.102" v="17"/>
        <pc:sldMkLst>
          <pc:docMk/>
          <pc:sldMk cId="1153380409" sldId="305"/>
        </pc:sldMkLst>
      </pc:sldChg>
      <pc:sldChg chg="addSp delSp modSp add mod">
        <pc:chgData name="Harish kumar Kethavarapu" userId="3acaa604-8271-4a58-8528-7ae9ed43b61c" providerId="ADAL" clId="{7DA0A9AD-AD4E-433B-ADA3-75F78AE5A5FF}" dt="2026-05-11T09:54:58.530" v="41" actId="14100"/>
        <pc:sldMkLst>
          <pc:docMk/>
          <pc:sldMk cId="2594447603" sldId="306"/>
        </pc:sldMkLst>
        <pc:spChg chg="mod">
          <ac:chgData name="Harish kumar Kethavarapu" userId="3acaa604-8271-4a58-8528-7ae9ed43b61c" providerId="ADAL" clId="{7DA0A9AD-AD4E-433B-ADA3-75F78AE5A5FF}" dt="2026-05-11T09:54:47.794" v="37" actId="20577"/>
          <ac:spMkLst>
            <pc:docMk/>
            <pc:sldMk cId="2594447603" sldId="306"/>
            <ac:spMk id="3" creationId="{2AAFEB18-CC17-F20B-04F5-EC776921EAA7}"/>
          </ac:spMkLst>
        </pc:spChg>
        <pc:spChg chg="del">
          <ac:chgData name="Harish kumar Kethavarapu" userId="3acaa604-8271-4a58-8528-7ae9ed43b61c" providerId="ADAL" clId="{7DA0A9AD-AD4E-433B-ADA3-75F78AE5A5FF}" dt="2026-05-11T09:54:34.839" v="21" actId="478"/>
          <ac:spMkLst>
            <pc:docMk/>
            <pc:sldMk cId="2594447603" sldId="306"/>
            <ac:spMk id="5" creationId="{85BF9D66-1AFD-0250-E277-F0E450DE8094}"/>
          </ac:spMkLst>
        </pc:spChg>
        <pc:spChg chg="del">
          <ac:chgData name="Harish kumar Kethavarapu" userId="3acaa604-8271-4a58-8528-7ae9ed43b61c" providerId="ADAL" clId="{7DA0A9AD-AD4E-433B-ADA3-75F78AE5A5FF}" dt="2026-05-11T09:54:40.102" v="22" actId="478"/>
          <ac:spMkLst>
            <pc:docMk/>
            <pc:sldMk cId="2594447603" sldId="306"/>
            <ac:spMk id="6" creationId="{DE3F89D9-6539-074D-755B-E6F62DDF5BF6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7" creationId="{9C904E33-519F-B699-4B9A-6A0E1604E562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9" creationId="{4757C492-112A-5CC9-393E-AC039AE22CB6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22" creationId="{EEEEA863-B8B9-78FE-C04C-F814D04B0F66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24" creationId="{EA618E0A-CEBC-3EC9-116C-B3D0DA8AA024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29" creationId="{416DDB71-06E6-87FC-6C1D-BC64D57EA2D7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34" creationId="{D09D603D-6A54-EE23-EA93-CF0C9A96706A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38" creationId="{C1AEDFCE-309E-2841-0F27-E420F209D48D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46" creationId="{A46893DB-53C9-68AA-3747-FEE0CCFE97F7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62" creationId="{96153F8B-90C9-62BF-A48A-BBC991AA4B86}"/>
          </ac:spMkLst>
        </pc:spChg>
        <pc:spChg chg="del">
          <ac:chgData name="Harish kumar Kethavarapu" userId="3acaa604-8271-4a58-8528-7ae9ed43b61c" providerId="ADAL" clId="{7DA0A9AD-AD4E-433B-ADA3-75F78AE5A5FF}" dt="2026-05-11T09:54:31.994" v="20" actId="478"/>
          <ac:spMkLst>
            <pc:docMk/>
            <pc:sldMk cId="2594447603" sldId="306"/>
            <ac:spMk id="65" creationId="{373740FD-9EC7-A167-CAF3-F5F0AA4D4014}"/>
          </ac:spMkLst>
        </pc:spChg>
        <pc:spChg chg="add mod">
          <ac:chgData name="Harish kumar Kethavarapu" userId="3acaa604-8271-4a58-8528-7ae9ed43b61c" providerId="ADAL" clId="{7DA0A9AD-AD4E-433B-ADA3-75F78AE5A5FF}" dt="2026-05-11T09:54:58.530" v="41" actId="14100"/>
          <ac:spMkLst>
            <pc:docMk/>
            <pc:sldMk cId="2594447603" sldId="306"/>
            <ac:spMk id="73" creationId="{A39803B0-5AE4-F4DB-9B6F-B47E811E7A13}"/>
          </ac:spMkLst>
        </pc:spChg>
      </pc:sldChg>
      <pc:sldChg chg="add setBg">
        <pc:chgData name="Harish kumar Kethavarapu" userId="3acaa604-8271-4a58-8528-7ae9ed43b61c" providerId="ADAL" clId="{7DA0A9AD-AD4E-433B-ADA3-75F78AE5A5FF}" dt="2026-05-11T10:00:41.096" v="42"/>
        <pc:sldMkLst>
          <pc:docMk/>
          <pc:sldMk cId="0" sldId="307"/>
        </pc:sldMkLst>
      </pc:sldChg>
      <pc:sldChg chg="add setBg">
        <pc:chgData name="Harish kumar Kethavarapu" userId="3acaa604-8271-4a58-8528-7ae9ed43b61c" providerId="ADAL" clId="{7DA0A9AD-AD4E-433B-ADA3-75F78AE5A5FF}" dt="2026-05-11T10:00:41.096" v="42"/>
        <pc:sldMkLst>
          <pc:docMk/>
          <pc:sldMk cId="0" sldId="308"/>
        </pc:sldMkLst>
      </pc:sldChg>
      <pc:sldChg chg="add setBg">
        <pc:chgData name="Harish kumar Kethavarapu" userId="3acaa604-8271-4a58-8528-7ae9ed43b61c" providerId="ADAL" clId="{7DA0A9AD-AD4E-433B-ADA3-75F78AE5A5FF}" dt="2026-05-11T10:00:41.096" v="42"/>
        <pc:sldMkLst>
          <pc:docMk/>
          <pc:sldMk cId="0" sldId="309"/>
        </pc:sldMkLst>
      </pc:sldChg>
    </pc:docChg>
  </pc:docChgLst>
</pc:chgInfo>
</file>

<file path=ppt/comments/modernComment_12B_26DEA0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CC566D-1B54-43CF-885A-A7946D0D7028}" authorId="{AE3F1BBE-0427-BDCA-28DC-A1BB43B02B60}" created="2026-05-11T09:56:48.099">
    <pc:sldMkLst xmlns:pc="http://schemas.microsoft.com/office/powerpoint/2013/main/command">
      <pc:docMk/>
      <pc:sldMk cId="652124197" sldId="299"/>
    </pc:sldMkLst>
    <p188:txBody>
      <a:bodyPr/>
      <a:lstStyle/>
      <a:p>
        <a:r>
          <a:rPr lang="en-US"/>
          <a:t>Chemical presentation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82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E602-5F17-31A0-5F7E-3FC64414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4374A-859A-B92A-9359-16A63267B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4E82F-DEDE-EA41-3991-8C6266125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47FF-3284-F634-3730-EC2A3721F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55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48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64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B_26DEA02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Information Management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· Multi-site · GMP-compliant · Industry-agnostic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15568" y="2834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lab lifecycle coverage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42032" y="28163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· Scan · Process Log · Dispatch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26864" y="28163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285232" y="2834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85232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Pt11 · Annex 11 · ALCOA+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11696" y="28163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370064" y="2834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70064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chemical, pharma or lab product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to every key figure on the cover — what it counts and why it matters for your lab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Modules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4264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 (5): Master Data · Parameters · Checkpoints · Sample Registration · Instrument Management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7007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EXECUTION (5): Testing Execution · Process Log · Digital Logbook · OOS Investigation · Results Management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9751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(6): QA Review · CoA Generation · Dispatch QC · Traceability · Stability Testing · Dashboards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22494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lab activity from receiving a material to releasing a product has a dedicated module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module is independently configurable — enable only what your lab needs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042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0952" y="107899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Trigger Modes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14264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1 — Time-Based: system auto-creates test tasks at any scheduled clock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8888" y="17007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2 — Operator Scan: QR/barcode scan on equipment or container triggers task instantly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18888" y="19751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3 — Process Log: clock-based shift grid (e.g. every 4 hrs) for continuous monitoring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22494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4 — Dispatch Event: Delivery Order raised triggers outgoing QC test automatically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18888" y="25237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4 modes feed the same Work Queue — analyst experience is identical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008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304495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3924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11 (FDA): electronic signatures, audit trail, access control for US-regulated products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36667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GMP Annex 11: computerised system validation, data integrity, backup/recovery for EU markets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" y="39410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ALCOA+ (FDA/MHRA/WHO): Attributable · Legible · Contemporaneous · Original · Accurate · Complete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42153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3 frameworks are enforced simultaneously — the system does not require choosing one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44897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to add ISO 17025, ICH Q1A, OECD GLP or any additional regulatory standard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008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30952" y="304495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Product &amp; Test Types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3924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hardcoded products — all materials, products and test parameters are configured in Master Data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18888" y="36667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any material: chemicals, APIs, reagents, excipients, water, utilities, finished goods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18888" y="39410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any test: titration, ICP-OES, HPLC, pH, SG, turbidity, heavy metals, microbiological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18888" y="42153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Multi-site: each site can have its own materials, specs, instruments and form templates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8888" y="44897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Industry-agnostic: pharmaceutical · chemical manufacturing · food &amp; beverage · petrochemical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9184" y="7315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— Master Data to Certificate of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9184" y="5029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in sequence · Each phase depends on the one before · Output of each feeds directly into the next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9326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11338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· QA approved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· Instruments · Users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154076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· Test Methods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170992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Specifications · Form Templates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12264" y="1280160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67128" y="12070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40864" y="822960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32304" y="9144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3230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52928" y="9326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2928" y="11338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configured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50592" y="13716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tests + spec limits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50592" y="154076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trigger mode (time/scan/DO)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50592" y="170992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by location if needed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88536" y="1280160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43400" y="12070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17136" y="822960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08576" y="9144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0857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9326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11338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printed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26864" y="13716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material · log lot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26864" y="154076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5-check validation gate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26864" y="170992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Barcode label auto-printed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64808" y="1280160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9672" y="12070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93408" y="822960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84848" y="9144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8484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05472" y="9326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05472" y="11338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03136" y="13716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WAP assigns right analyst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03136" y="154076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Queue shows tasks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03136" y="170992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Sorted by urgency &amp; due time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589520" y="1865376"/>
            <a:ext cx="9144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43800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93408" y="2121408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84848" y="221284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84848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205472" y="22311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05472" y="24323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gate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03136" y="26700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gate — hard block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803136" y="28392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CoA locked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03136" y="30083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mandatory reason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64808" y="2578608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19672" y="250545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17136" y="2121408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08576" y="221284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08576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29200" y="22311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29200" y="24323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26864" y="26700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by 2nd analyst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626864" y="28392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Lead verifies + e-signs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26864" y="30083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draft auto-generated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288536" y="2578608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343400" y="250545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40864" y="2121408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432304" y="221284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432304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2852928" y="22311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852928" y="24323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450592" y="26700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result recorded live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450592" y="28392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· time · analyst stamped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450592" y="30083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after e-sign — immutable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112264" y="2578608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167128" y="250545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64592" y="2121408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56032" y="221284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56032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76656" y="22311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76656" y="24323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start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74320" y="26700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barcode → form opens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4320" y="28392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auto-calculates result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74320" y="30083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flagged instantly if fail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60704" y="3163824"/>
            <a:ext cx="9144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14984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64592" y="3419856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56032" y="351129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56032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76656" y="35295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76656" y="373075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PDF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74320" y="396849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Template-driven auto-fill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274320" y="413766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· Batch · Customer · DO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74320" y="430682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e-signs → PDF locked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12264" y="3877056"/>
            <a:ext cx="20116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167128" y="38039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340864" y="3419856"/>
            <a:ext cx="1901952" cy="987552"/>
          </a:xfrm>
          <a:prstGeom prst="roundRect">
            <a:avLst>
              <a:gd name="adj" fmla="val 9259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432304" y="351129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2432304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2852928" y="35295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852928" y="373075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DO-triggered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2450592" y="396849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Order raised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450592" y="413766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tests outgoing product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450592" y="430682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→ CLEARED for dispatch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Detail — What Happens at Each Stage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Action · Output · Who is responsible — for every phase from Master Data to CoA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877824"/>
            <a:ext cx="8631936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7782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24128" y="877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95728" y="877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73168" y="877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84848" y="877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877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8631936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" y="126187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126187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" y="1188720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32304" y="1188720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lab, instruments, materials, test methods, specs, form templates, users. QA approves all before use.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09744" y="1188720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Business requirements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Foundation for all modules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21424" y="1188720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Admin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563624"/>
            <a:ext cx="8631936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" y="1636776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" y="163677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0704" y="1563624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32304" y="156362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test, spec limits (in-house + regulatory), trigger mode (time/scan/dispatch), locations, critical flags.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09744" y="1563624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Master Data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Form Template ready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21424" y="1563624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Admin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1938528"/>
            <a:ext cx="8631936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" y="201168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" y="20116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0704" y="1938528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32304" y="1938528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material. Log lot, supplier, dates. 5-check validation gate. Tests auto-assigned. Barcode label printed.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9744" y="1938528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Material receipt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Sample in Work Queue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21424" y="1938528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2313432"/>
            <a:ext cx="8631936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" y="2386584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" y="238658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" y="2313432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WAP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32304" y="2313432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manager assigns tasks via WAP (calendar, capacity, certification). Analyst opens queue — tasks pre-assigned and ready.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9744" y="231343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Registered samples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Assigned test tasks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21424" y="2313432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Manager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Analyst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2688336"/>
            <a:ext cx="8631936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9184" y="2761488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9184" y="27614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0704" y="2688336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32304" y="2688336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scans barcode → test opens. Verifies instrument. Enters results. System auto-calculates. OOS flagged if outside spec.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9744" y="2688336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Work Queue task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Signed raw results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21424" y="2688336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" y="3063240"/>
            <a:ext cx="8631936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29184" y="313639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9184" y="31363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60704" y="3063240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32304" y="3063240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auto-recorded in real time. Date, time, analyst, instrument, result, pass/fail — all auto-stamped and e-signed. Immutable.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09744" y="3063240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Test results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Permanent record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821424" y="3063240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438144"/>
            <a:ext cx="8631936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29184" y="3511296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9184" y="35112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0704" y="3438144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32304" y="343814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analyst peer reviews all data. QC Lead verifies and e-signs. System consolidates all results. CoA draft auto-generated.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809744" y="3438144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Signed results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CoA draft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821424" y="3438144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Analyst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QC Lead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56032" y="3813048"/>
            <a:ext cx="8631936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9184" y="388620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9184" y="388620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60704" y="3813048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432304" y="3813048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all results and CoA draft. Open OOS = hard block. Approve → CoA PDF locked and status = RELEASED. Reject → back to lab.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809744" y="3813048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CoA draft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Released batch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821424" y="3813048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56032" y="4187952"/>
            <a:ext cx="8631936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9184" y="4261104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9184" y="426110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60704" y="4187952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432304" y="4187952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auto-filled from verified results. Product, batch, customer, DO, all test results, spec limits, 3 e-signatures. PDF locked.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809744" y="418795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QA approval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Customer CoA PDF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821424" y="4187952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QA sign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6032" y="4562856"/>
            <a:ext cx="8631936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29184" y="4636008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9184" y="46360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60704" y="4562856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432304" y="4562856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 raised → outgoing QC task auto-created. Analyst tests product. Pass → CLEARED for dispatch. CoA header auto-filled.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809744" y="4562856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Delivery Order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Product cleared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821424" y="4562856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QA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56032" y="4901184"/>
            <a:ext cx="8631936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29184" y="49011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hard gate — the next phase cannot begin until the current one is complete and e-signed. No phase can be skipped. All actions are permanently logged in the audit trail.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— Who Does What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 across the complete 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863193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" y="102412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024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82496" y="1024128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73936" y="102412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Master Data setup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14216" y="1024128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05656" y="102412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Form Templates &amp; Checkpoints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8631936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" y="168249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1682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82496" y="1682496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73936" y="16824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WAP — assign tasks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14216" y="1682496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05656" y="16824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Workload balancing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45936" y="1682496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7376" y="16824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Capacity &amp; certification check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212848"/>
            <a:ext cx="863193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" y="2340864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" y="2340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82496" y="2340864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73936" y="23408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Sample Registration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14216" y="2340864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05656" y="23408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Work Queue — pick task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45936" y="2340864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37376" y="23408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Testing Execution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2871216"/>
            <a:ext cx="8631936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0896" y="299923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0896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82496" y="2999232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73936" y="29992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Peer review sign-off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14216" y="2999232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05656" y="29992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Verify calculations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45936" y="2999232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37376" y="29992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CoA draft validation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3529584"/>
            <a:ext cx="863193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10896" y="365760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0896" y="3657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82496" y="3657600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773936" y="365760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Approve Master Data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14216" y="3657600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05656" y="365760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Approve Form Templates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45936" y="3657600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37376" y="365760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Final review &amp; release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6032" y="4187952"/>
            <a:ext cx="8631936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10896" y="431596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0896" y="43159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82496" y="4315968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773936" y="43159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Barcode label printed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14216" y="4315968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05656" y="43159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Auto-calculate results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45936" y="4315968"/>
            <a:ext cx="2194560" cy="310896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37376" y="43159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OOS flag raised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4901184"/>
            <a:ext cx="8631936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9184" y="49011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enforced by the system — analyst cannot approve own results · QC Lead cannot enter raw data · QA cannot be the same person as analyst · Admin can reset but not alter results.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— Part 1 of 3: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· Parameters · Checkpoints · Sample Registration · Instrument Management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495958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· Location · Site code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Instruments · Calibration due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· UOM · Shelf life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Methods · SOP reference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Specifications · version-ctrl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Templates per form type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Reagents &amp; Standards · lot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· Roles · Permissions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15998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15998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7203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72030" y="960120"/>
            <a:ext cx="1495958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6347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6347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Defined once — reused everywhere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6347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· unit · data type · formula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6347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 formula (auto-result)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6347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Table-lookup (e.g. SG → Conc%)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6347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flag — mandatory freq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6347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In-house &amp; regulatory spec limits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6347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Column-level frequency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6347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Daily / Weekly / Periodic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798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798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2402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24021" y="960120"/>
            <a:ext cx="149595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1546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1546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Single: one location, one form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1546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Grouped: multi-location, one 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546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Time-based (scheduled clock)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1546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scan (per-batch)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1546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Log: shift-based grid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1546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Dispatch: Delivery Order raised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1546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Per-batch: no fixed schedule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1546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params always enforced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1997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1997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601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76011" y="960120"/>
            <a:ext cx="149595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745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745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&amp; site selection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745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Receipt — lot/supplier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6745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Sample — auto ID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45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5-check Validation Gate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745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Spec · Cal · Expiry · Training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745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Spec-driven test assignment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6745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Template selected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6745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SRF e-sign → Work Queue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071970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71970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328002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328002" y="960120"/>
            <a:ext cx="149595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19442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Management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419442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 instruments in master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419442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IQ / OQ / PQ qualification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19442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schedule &amp; alerts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19442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execution + QA sign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19442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Usage log — every test use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19442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Preventive maintenance schedule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19442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Breakdown / repair workflow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19442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Available/In-Use/OOC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864608"/>
            <a:ext cx="850392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" y="4864608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is the foundation — all other modules depend on entities configured here. All entities are configurable per site, per lab, per product type.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— Part 2 of 3: EXECUTION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 · Process Log · Digital Logbook · OOS Investigation · Results Management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495958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Queue — sorted by due date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instrument calibration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test → log start time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data: manual or import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Auto-correction (e.g. SG→25°C)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Auto-calculate result (formula)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OOS/OOT auto-flag vs spec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 evidence → e-sign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15998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15998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7203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72030" y="960120"/>
            <a:ext cx="1495958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6347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6347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Clock-based shift testing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6347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time slots per shift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6347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Pre-populated slot grid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6347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Parameters per slot — configurable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6347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Shaded cells = not due this slot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6347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auto-flags identically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6347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e-signed and locked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6347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continuous process monitoring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798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798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2402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24021" y="960120"/>
            <a:ext cx="149595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1546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Logbook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1546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record of every test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1546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Date/time auto-stamped (not editable)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546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 · location · parameter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1546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data + calculated result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1546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Pass/Fail flag vs spec limits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1546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ID + cal status at time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1546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identity · e-sig · timestamp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1546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after signing — no overwrite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1997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1997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601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76011" y="960120"/>
            <a:ext cx="149595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745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Investigation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745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 — Lab Investigation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745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Clerical/calc error check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6745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Instrument log review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45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Analyst re-test if justified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745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 — Full Investigation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745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Root cause analysis + CAPA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6745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QA review &amp; approval required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6745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gated until closed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071970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71970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328002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328002" y="960120"/>
            <a:ext cx="149595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19442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Management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419442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Auto-compare results to spec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419442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— 4-eyes principle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19442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Lead verification (e-sig)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19442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evidence — attachments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19442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Consolidate all test results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19442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CoA Draft (auto)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19442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header auto-populated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19442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immutable from here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864608"/>
            <a:ext cx="850392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" y="4864608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 runs in parallel to the Work Queue for continuous monitoring scenarios. Digital Logbook is auto-populated — analyst never creates logbook entries manually.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— Part 3 of 3: OUTPUT &amp; COMPLIANCE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· CoA Generation · Dispatch QC · Traceability · Stability · Dashboards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29260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495958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Release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Auto-arrives after Results done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Read-only view — all results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OOS/deviation gate (hard block)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CoA draft (checklist)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Decision: Approve / Reject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CoA PDF locked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 → RELEASED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mandatory justification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15998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15998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72030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72030" y="960120"/>
            <a:ext cx="1495958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63470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63470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Template-driven auto-population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63470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Header: Product · Batch · Dates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63470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· Despatch Date · DO No.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63470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Body: Test | Spec | Result | P/F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63470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In-house + regulatory spec shown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63470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e-Sig: Analyst+QC Lead+QA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63470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locked after QA sign-off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63470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+ archived to ERP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798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798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2402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24021" y="960120"/>
            <a:ext cx="1495958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1546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1546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Trigger: Delivery Order raised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1546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· Container assigned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546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Tests: configurable per product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1546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→ product CLEARED for dispatch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1546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 → blocked, OOS investigation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1546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to CoA + DO reference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1546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configurable test set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1546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any outgoing product type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19979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19979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6011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76011" y="960120"/>
            <a:ext cx="149595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7451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Compliance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7451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Lot ↔ Sample ↔ Test ↔ Instrument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7451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Upstream: supplier · reagent · cal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67451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Downstream: batch · CoA · recall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451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11 e-signatures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7451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GMP Annex 11 compliant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7451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ALCOA+ data integrity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67451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trail: immutable every action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67451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OOC auto-flags results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071970" y="2752344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71970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328002" y="960120"/>
            <a:ext cx="149595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328002" y="960120"/>
            <a:ext cx="149595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19442" y="1005840"/>
            <a:ext cx="1313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Dashboards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419442" y="134416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Stability: ICH Q1A pull schedule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419442" y="160020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T-7/T-1 alerts · shelf-life calc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19442" y="185623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inventory &amp; retain mgmt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19442" y="2112264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execution → auto-registration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19442" y="2368296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WIP dashboard — live counts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19442" y="2624328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TAT tracking + breach alerts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19442" y="2880360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KPIs: OOS% · RFT rate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19442" y="3136392"/>
            <a:ext cx="1331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status board · alerts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864608"/>
            <a:ext cx="8503920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" y="4864608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 is configurable for any outgoing product type. All test parameters, acceptance limits and trigger conditions are defined in Master Data — no hardcoding required.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16503-2C19-3293-29B8-773A2D8F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5FE039-7094-CE64-E5B8-E83DDE3FC9C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AFEB18-CC17-F20B-04F5-EC776921EAA7}"/>
              </a:ext>
            </a:extLst>
          </p:cNvPr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</a:t>
            </a:r>
            <a:endParaRPr lang="en-US" sz="2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9803B0-5AE4-F4DB-9B6F-B47E811E7A13}"/>
              </a:ext>
            </a:extLst>
          </p:cNvPr>
          <p:cNvSpPr txBox="1"/>
          <p:nvPr/>
        </p:nvSpPr>
        <p:spPr>
          <a:xfrm>
            <a:off x="262890" y="1183005"/>
            <a:ext cx="83172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Go to Master Data → Form Templates → New</a:t>
            </a:r>
          </a:p>
          <a:p>
            <a:pPr>
              <a:buFont typeface="+mj-lt"/>
              <a:buAutoNum type="arabicPeriod"/>
            </a:pPr>
            <a:r>
              <a:rPr lang="en-US" dirty="0"/>
              <a:t>Give it a name and Form ID (e.g. LAB-F-10)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 the trigger — daily time, scan, every 4 hours, or Delivery Order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locations — one column per tank/vessel/location if it is a grouped form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parameters — link to Test Method, set spec limit, frequency (daily/weekly), and mark critical ones with *</a:t>
            </a:r>
          </a:p>
          <a:p>
            <a:pPr>
              <a:buFont typeface="+mj-lt"/>
              <a:buAutoNum type="arabicPeriod"/>
            </a:pPr>
            <a:r>
              <a:rPr lang="en-US" dirty="0"/>
              <a:t>Set instrument type required and whether evidence upload is mandatory</a:t>
            </a:r>
          </a:p>
          <a:p>
            <a:pPr>
              <a:buFont typeface="+mj-lt"/>
              <a:buAutoNum type="arabicPeriod"/>
            </a:pPr>
            <a:r>
              <a:rPr lang="en-US" dirty="0"/>
              <a:t>Save as Draft → Submit to QA</a:t>
            </a:r>
          </a:p>
          <a:p>
            <a:pPr>
              <a:buFont typeface="+mj-lt"/>
              <a:buAutoNum type="arabicPeriod"/>
            </a:pPr>
            <a:r>
              <a:rPr lang="en-US" dirty="0"/>
              <a:t>QA approves → Status goes to Active → Form opens automatically on next trigger</a:t>
            </a:r>
          </a:p>
          <a:p>
            <a:pPr>
              <a:buNone/>
            </a:pPr>
            <a:r>
              <a:rPr lang="en-US" b="1" dirty="0"/>
              <a:t>Two things that must exist BEFORE you can create a Form Template: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Test Method with its parameters must already be in Master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Specification with limits must already be approved</a:t>
            </a:r>
          </a:p>
        </p:txBody>
      </p:sp>
    </p:spTree>
    <p:extLst>
      <p:ext uri="{BB962C8B-B14F-4D97-AF65-F5344CB8AC3E}">
        <p14:creationId xmlns:p14="http://schemas.microsoft.com/office/powerpoint/2010/main" val="259444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 — all entities are configurable per site, lab and product type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— Entities &amp; Key Fields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and QA approval required on all entities · All linked and version-controlled · No hardcoded values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4964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005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37360" y="10058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46120" y="10058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1005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86600" y="10058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316736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1316736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7360" y="1316736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location / unit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1316736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Name, Location, Type, Site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1316736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Instruments, Users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86600" y="1316736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site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691640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691640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" y="1691640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Master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7360" y="1691640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equipment catalog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6120" y="1691640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Model, Serial, Cal Due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1691640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Methods, Lab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86600" y="1691640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instrument type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066544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066544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2066544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Master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37360" y="2066544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 under test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46120" y="2066544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Type, UOM, Shelf Life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2066544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Samples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2066544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Chemicals, APIs, reagents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441448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441448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8368" y="2441448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37360" y="2441448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analytical procedure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46120" y="2441448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ID, Type, Parameters, SOP Ref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0" y="2441448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Instruments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86600" y="2441448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analytical method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816352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2816352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" y="2816352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37360" y="2816352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limits per material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46120" y="2816352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Min/Max, In-house, Regulatory Tier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816352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Methods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86600" y="2816352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limits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191256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191256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" y="3191256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737360" y="3191256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digital form layout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46120" y="3191256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ID, Columns, Frequency, Trigger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6400" y="3191256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86600" y="3191256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LAB form type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566160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3566160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8368" y="3566160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Type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37360" y="3566160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category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46120" y="3566160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Type, Matrix, Stage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0" y="3566160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Specs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086600" y="3566160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Mat, In-Process, FP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3941064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3941064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" y="3941064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Reagents &amp; Standards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37360" y="3941064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and working standards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246120" y="3941064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No, Potency, Expiry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86400" y="3941064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086600" y="3941064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standard type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4315968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74320" y="4315968"/>
            <a:ext cx="411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8368" y="4315968"/>
            <a:ext cx="10515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737360" y="4315968"/>
            <a:ext cx="15087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authorization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246120" y="4315968"/>
            <a:ext cx="22402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Permissions, Lab Assignment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86400" y="4315968"/>
            <a:ext cx="16002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086600" y="4315968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Analyst, QC Lead, QA, Admin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4882896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are configured in Master Data — no values are hardcoded in the application. Adding a new product, material, instrument or test requires no code change.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— Dependency Tiers &amp; Setup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Foundation → Tier 2: Configuration → Tier 3: Operational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" cy="12252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560320" cy="3383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Lab: create site record → assign lab code, type and location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Users: define role permissions → assign to groups, labs and sites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Template: define form layout, parameters, frequency and trigger type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8595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64008" cy="12252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2560320" cy="3383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Configuration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761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Instruments: registration → calibration schedule → method and lab linking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Materials: add material name, type, grade, storage conditions and shelf life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273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Methods: draft → validation → QA approval before use in any testing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75888"/>
            <a:ext cx="8595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64008" cy="1225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2560320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Operational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Specifications: version-controlled draft → in-house + regulatory limits → product linkage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Types: category definition → test matrix assignment → sampling frequency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608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Reagents &amp; Standards: receive → log lot/potency/expiry → QC approval before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→ 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64408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 → Material + Test Method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44768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→ Material + Spec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4645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Method → Instrument Type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64408" y="4645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Reagents → Test Method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44768" y="4645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Template → Test Method + Trigger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5D8C743-0E88-7087-EB24-4FA85C403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133" y="2898912"/>
            <a:ext cx="2916099" cy="13436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Definition, Setup and Link to Checkpoints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= one measurable property. Defined once — reused across all test forms, logbooks and CoAs.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5740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name (e.g. Concentration%, pH, Turbidity, Purity)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of measure: ppm / % / g/ml / NTU / uS/cm / mg/kg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65760" y="23408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type: Numeric / Text / Pass-Fail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65760" y="27340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Formula: standard expression or table-lookup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instrument type (configurable)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flag: marks parameter as mandatory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350008" y="277063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50008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100584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87168" y="1005840"/>
            <a:ext cx="205740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78608" y="1024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78608" y="155448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In-house spec: min / max acceptance limits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578608" y="194767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spec tier: any standard (MS, USP, EP, ISO…)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578608" y="23408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Version-controlled and QA-approved before use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578608" y="27340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Column-level frequency: Daily / Weekly / Periodic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578608" y="3127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e.g. basic params daily · advanced params weekly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578608" y="35204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params: system enforces — skippable with reason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562856" y="277063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62856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00584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0016" y="1005840"/>
            <a:ext cx="20574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91456" y="1024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155448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checkpoint: one location, one form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91456" y="194767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Grouped checkpoint: multi-location, one form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791456" y="23408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e.g. 6 tanks on one daily form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91456" y="27340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column holds its own spec limit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91456" y="3127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Log mode: time-slot grid (configurable hrs)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91456" y="35204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params always enforced per slot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775704" y="277063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75704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12864" y="100584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12864" y="1005840"/>
            <a:ext cx="20574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04304" y="1024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04304" y="155448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entry field on the test form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004304" y="194767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Auto-calculated result (formula or table-lookup)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004304" y="23408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Pass/Fail vs in-house AND regulatory spec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004304" y="27340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OOS/OOT flag raised automatically if outside limits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7004304" y="3127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Timestamped, e-signed row in Digital Logbook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004304" y="35204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 in Certificate of Analysis (CoA)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983480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defined ONCE — the system reuses the same definition across every checkpoint, test form, logbook entry and CoA. No duplication. Adding a new product needs only new specs — not new parameters.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Trigger Modes · Single &amp; Grouped Forms · Process Log · Dispatch QC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Trigger Modes — All 4 Modes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modes feed the same Work Queue or Process Log — analyst experience is consistent regardless of trigger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3383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Time-Based Trigger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408176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auto-creates test tasks at any scheduled clock time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Configurable: daily, twice-daily, every N hours, custom slots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93852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parameters in checkpoint pushed to Work Queue on trigger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203704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daily morning shift trigger at 08:00 for process monitoring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46888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human action needed — system drives the test schedule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251960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0424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Operator Scan Trigger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1408176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physically scans QR/barcode on equipment or container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167335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checkpoint auto-loads from scan — no manual lookup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64608" y="193852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per-batch checkpoints or event-driven testing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64608" y="2203704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Offline-capable: scan queued and synced on reconnect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64608" y="246888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audit trail: who scanned, when, which equipment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51960" cy="3383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443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 — Process Log (Shift-Based)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31012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Clock trigger: configurable intervals (e.g. every 4 hours)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575304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Pre-populated time-slot grid opened for the current day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84048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slot tests a configurable set of parameters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4105656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Shaded / locked cells = parameter not due this slot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43708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e-signed and locked immediately after entry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907792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907792"/>
            <a:ext cx="4251960" cy="3383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9443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 — Dispatch Event Trigger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64608" y="331012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Triggered when a Delivery Order (DO) is raised in the system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3575304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type, container and destination auto-assigned as context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384048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set is configurable per product type — not hardcoded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4105656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→ product status CLEARED for dispatch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64608" y="43708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 → blocked; OOS investigation required before release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736592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trigger modes, frequencies and parameter sets are configurable in Master Data. No code change is required to add a new checkpoint, product or test schedule.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Checkpoint — Multi-Location 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· Multiple locations on one form · Each column has its own configurable specification limit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9748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Storage Tank 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≥ configured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69748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Storage Tank 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≥ configured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0116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Process Unit 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— no limit 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0116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2697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880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Compressor 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≥ configured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54680" y="242316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2423160"/>
            <a:ext cx="2697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2880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Compressor 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4612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≥ configured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4612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35040" y="242316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5040" y="2423160"/>
            <a:ext cx="2697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2880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Incoming Storage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≥ configured max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 param  ·  Trigger: configurable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393192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trigger opens one form covering all configured locations. Each column is validated independently against its own spec. Number of locations, parameters and specs are all configurable — no limit.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Material Receipt · Validation · Test Assignment · SRF · Work Queue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Receipt → Create Sample → Barcode Label → Validation → Assign Tests → SRF → Queue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329184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10607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37160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login (Analyst / QC Lead / QA)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6459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selection — multi-lab support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656" y="19202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determines available actions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36392" y="98755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36392" y="987552"/>
            <a:ext cx="329184" cy="1572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36392" y="15179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10607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Receipt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38728" y="137160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material from Material Master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38728" y="16459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Lot No, Quantity, Supplier, MFG/EXP dates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38728" y="19202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to PO / Supplier COA if available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98464" y="98755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98464" y="987552"/>
            <a:ext cx="329184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98464" y="15179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10607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37160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Sample ID: configurable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Type: Raw / In-Process / Finished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19202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 point, sampled-by, date/time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9456" y="2706624"/>
            <a:ext cx="2066544" cy="1682496"/>
          </a:xfrm>
          <a:prstGeom prst="roundRect">
            <a:avLst>
              <a:gd name="adj" fmla="val 434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53312" y="271576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53312" y="2715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761488"/>
            <a:ext cx="195681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761488"/>
            <a:ext cx="329184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29184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" y="2834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Label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QR/barcode label auto-generated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" y="3419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Printed instantly on registration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Pre-linked to Sample ID, lot, test list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9684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sticks on container — no handwriting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50008" y="2761488"/>
            <a:ext cx="195681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350008" y="2761488"/>
            <a:ext cx="329184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50008" y="329184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752344" y="2834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52344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lot not expired ✔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52344" y="3419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specification exists ✔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52344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calibrated &amp; available ✔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52344" y="39684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trained · Reagents in stock 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25696" y="2761488"/>
            <a:ext cx="195681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25696" y="2761488"/>
            <a:ext cx="329184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25696" y="329184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828032" y="2834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Tests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803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drives auto-test assignment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3419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Template determines form layout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override with documented reason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01384" y="2761488"/>
            <a:ext cx="195681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501384" y="2761488"/>
            <a:ext cx="329184" cy="15727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01384" y="329184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903720" y="2834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SRF &amp; Queue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0372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Request Form auto-generated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03720" y="3419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e-signs (21 CFR Part 11)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03720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REGISTERED → PENDING TESTING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92240" y="987552"/>
            <a:ext cx="2377440" cy="1572768"/>
          </a:xfrm>
          <a:prstGeom prst="roundRect">
            <a:avLst>
              <a:gd name="adj" fmla="val 465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92240" y="987552"/>
            <a:ext cx="2377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65392" y="10058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Label — What's printed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65392" y="1335024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ID (QR + human-readable)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65392" y="153619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name + Lot number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565392" y="173736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list pre-linked to label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65392" y="193852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registered + Analyst name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65392" y="213969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code + Form Template ref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65392" y="2340864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at any point = opens correct task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65760" y="489204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label printed at Step 4 — container is labelled before any testing begins. Analyst scans the label at testing time instead of typing the sample ID. Eliminates transcription errors. Chain of custody from container to CoA.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98154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· Instrument Verification · Data Capture · OOS · Sign-Off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 — Work Queue &amp; Resource Planning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assigns right analyst to right test · Work Queue drives execution · System handles OOS, calc, audit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Resource Planning (WAP) — Before the Analyst Opens the Queue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276148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Manager 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Calendar view of all open tasks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760220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availability &amp; capacity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certification status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098548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task to best-fit analyst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Workload balance across the team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82112" y="1261872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82112" y="1261872"/>
            <a:ext cx="2761488" cy="2743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73552" y="12801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Assignment Rules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3552" y="1591056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task to trained analyst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3552" y="1760220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instrument availability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73552" y="1929384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overloading one person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2098548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due date urgency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73552" y="2267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Certification expiry included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9904" y="1261872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261872"/>
            <a:ext cx="276148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81344" y="12801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Analyst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1344" y="1591056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Queue shows assigned tasks only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1344" y="1760220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searching for relevant tests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1344" y="1929384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already set by manager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81344" y="2098548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 never exceeded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81344" y="2267712"/>
            <a:ext cx="2596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work — system does the rest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2487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Analyst opens Work Queue — tasks already assigned, prioritised and ready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761488"/>
            <a:ext cx="854964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" y="2761488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316736" y="2761488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0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Screen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0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072384"/>
            <a:ext cx="8549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072384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21792" y="3072384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 Queue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1316736" y="3072384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tasks shown — sorted by urgency. Sample · test · instrument visible.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023360" y="3072384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Screen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943600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has already assigned the right analyst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74320" y="3337560"/>
            <a:ext cx="8549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74320" y="3337560"/>
            <a:ext cx="854964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337560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21792" y="3337560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Select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316736" y="3337560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barcode on container OR tap task. Test form opens instantly.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023360" y="3337560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 / tap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94360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= zero typing, no ID lookup needed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274320" y="3602736"/>
            <a:ext cx="8549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3602736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21792" y="3602736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Instrument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1316736" y="3602736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calibration status before start. Blocks if overdue.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023360" y="3602736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check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594360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 — no workaround possible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274320" y="3867912"/>
            <a:ext cx="8549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3867912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621792" y="3867912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1316736" y="3867912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 readings or import instrument data file. System auto-calculates.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4023360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/ Import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594360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formula — no transcription error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274320" y="4133088"/>
            <a:ext cx="8549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74320" y="4133088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621792" y="4133088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Check (Auto)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1316736" y="4133088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compares instantly vs spec. FAIL → investigation. PASS → sign-off.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402336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deviation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5943600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moment analyst submits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274320" y="4398264"/>
            <a:ext cx="8549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4398264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621792" y="4398264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Evidence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1316736" y="4398264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printout, photo or instrument file. Mandatory before signing.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4023360" y="4398264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section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5943600" y="4398264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critical tests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274320" y="4663440"/>
            <a:ext cx="8549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74320" y="4663440"/>
            <a:ext cx="3474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621792" y="4663440"/>
            <a:ext cx="6949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Signs Off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1316736" y="4663440"/>
            <a:ext cx="27066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+ reason. Timestamp locked. Result immutable.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402336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 dialog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59436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compliant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274320" y="493776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93776" y="49377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new additions (WAP + Barcode scan)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937760" y="4919472"/>
            <a:ext cx="38862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029200" y="4919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sits above the Work Queue — manager uses it once to assign and balance. Analyst experience is unchanged except tasks arrive pre-assigned. Barcode scan at Step 2 replaces manual sample ID lookup.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5338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 Investigation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investigation before any batch proceeds · All phases require electronic sign-off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298448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91056" y="128016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91056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024128"/>
            <a:ext cx="129844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54096" y="128016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54096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129844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Investigation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17136" y="128016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17136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24128"/>
            <a:ext cx="1298448" cy="658368"/>
          </a:xfrm>
          <a:prstGeom prst="rect">
            <a:avLst/>
          </a:prstGeom>
          <a:solidFill>
            <a:srgbClr val="DC5A2A"/>
          </a:solidFill>
          <a:ln w="12700">
            <a:solidFill>
              <a:srgbClr val="DC5A2A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0176" y="128016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0176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24128"/>
            <a:ext cx="129844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43216" y="128016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43216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1024128"/>
            <a:ext cx="129844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0" y="1060704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874520"/>
            <a:ext cx="27614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1874520"/>
            <a:ext cx="276148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1892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Lab Investigation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23042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for clerical/calculation errors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7614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instrument logs &amp; calibration records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2186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re-test if scientifically justified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36758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all findings with supporting evidence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41330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assignable cause found OR escalate to Phase 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82112" y="1874520"/>
            <a:ext cx="27614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82112" y="1874520"/>
            <a:ext cx="2761488" cy="347472"/>
          </a:xfrm>
          <a:prstGeom prst="rect">
            <a:avLst/>
          </a:prstGeom>
          <a:solidFill>
            <a:srgbClr val="DC5A2A"/>
          </a:solidFill>
          <a:ln w="12700">
            <a:solidFill>
              <a:srgbClr val="DC5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73552" y="1892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Full Investigation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73552" y="23042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Invalidate original result if assignable cause confirmed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73552" y="27614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 / raw material root cause analysis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73552" y="32186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 creation if systemic issue identified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73552" y="36758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review and formal approval required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73552" y="41330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Pass / Reject / Retest / Complaint link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9904" y="1874520"/>
            <a:ext cx="27614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89904" y="1874520"/>
            <a:ext cx="2761488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81344" y="1892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81344" y="23042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OOS events logged and linked to sample + test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81344" y="27614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Investigation must close before batch proceeds to QA Review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81344" y="32186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phase requires electronic sign-off (21 CFR Part 11)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81344" y="36758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cannot be altered after sign-off — only superseded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81344" y="413308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captures every action and decision immutably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 — Continuous Shift-Based Testing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Clock-based configurable intervals · Time-slot grid · Parallel to Work Queue · Row-level sign-off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" cy="3840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Process Log?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dedicated screen separate from the Work Queue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Pre-populated time-slot grid for the current day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slots: fully configurable (e.g. every 4 hrs)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groups per slot: configurable in Master Data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(*) parameters: tested every slot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Non-critical parameters: tested at set frequency only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47472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Shaded / locked cells = not due this slot — leave empty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auto-flags identically to main workflow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416966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row e-signed and locked after entry — no edits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451713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pushed to server in real time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 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463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hits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07608" y="176479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07608" y="1755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1463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unlocks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screen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79208" y="176479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79208" y="1755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1463040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0" y="1463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enters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54880" y="2761488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76148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check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instantly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17720" y="306324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761488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0" y="276148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e-signs row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79208" y="3063240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79208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2761488"/>
            <a:ext cx="12344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98080" y="276148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logged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3657600"/>
            <a:ext cx="420624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6576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 intervals, parameter groups and critical flags are all configured in Master Data. The Process Log screen works for any continuous monitoring scenario — not limited to a specific product or industry.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Management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· Peer Review · Verify · CoA Draft · QA Release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Management — Data to CoA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Calculate → Peer Review → Verify → Consolidate → CoA Draft → QA Review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4964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65960" y="1005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60520" y="1005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Screen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0" y="1005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1673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Raw Data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96596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enters readings or imports instrument data file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160520" y="131673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/ Import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852160" y="1316736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method parameters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1655064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65506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Result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965960" y="1655064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computes final result using method formula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160520" y="165506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(read-only, auto)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852160" y="1655064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calculation allowed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Specification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96596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checked against in-house + regulatory limits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16052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flag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852160" y="1993392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visual feedback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74320" y="2331720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 Flag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965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Out-of-spec result triggers alert + investigation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1605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deviation form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852160" y="2331720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investigation before proceed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74320" y="2670048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96596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analyst reviews data entry and calculation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160520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panel + e-sig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852160" y="2670048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principle — ensures data integrity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74320" y="3008376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00837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 Verification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96596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 e-signs — cannot be the same analyst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160520" y="300837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button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852160" y="3008376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segregation of duties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74320" y="3346704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334670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Evidence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96596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output, worksheets, photos attached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60520" y="334670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tab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852160" y="3346704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documentation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274320" y="3685032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68503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Results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965960" y="3685032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grouped into one results record for sample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160520" y="368503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Preview screen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852160" y="3685032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must be complete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74320" y="4023360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CoA Draft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196596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auto-populated from product master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16052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Template render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5852160" y="4023360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tied to product + form template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274320" y="4361688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361688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Final Review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1965960" y="4361688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consolidated results + CoA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4160520" y="4361688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screen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5852160" y="4361688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gate before release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74320" y="4700016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4320" y="470001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1965960" y="4700016"/>
            <a:ext cx="21945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Released; CoA PDF locked and distributed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160520" y="470001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+ e-sig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5852160" y="4700016"/>
            <a:ext cx="2971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material availability in ERP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4882896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immutable from the moment the QC Lead verifies. The only path forward is QA approval or rejection. All data changes are permanently audit-logged.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Release — Step by Step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gate before any sample is released · All OOS must be resolved · Immutable audit trail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6362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107899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 QA Queue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3898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Auto-arrives after Results Management complete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6642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PENDING QA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656" y="193852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independence from lab work — core GMP requirement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156362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57016" y="107899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Review Screen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7016" y="13898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Read-only view of all results + raw 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57016" y="16642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signatures + QC Lead verification visible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57016" y="193852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audit trails + deviation records accessible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156362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107899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OOS / Deviations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37376" y="13898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gate — any open OOS blocks review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37376" y="16642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deviations must have documented outcome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37376" y="193852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System-enforced — QA cannot proceed past this gate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78892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3467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" y="286207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CoA Draft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" y="317296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test steps complete — no gaps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" y="34472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required attachments present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37216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approved specification version was used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6656" y="399592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e-signatures from analyst + peer + QC Lead in place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54680" y="278892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54680" y="278892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54680" y="33467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557016" y="286207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Decision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57016" y="317296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e-sig applied, CoA PDF immediately locked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57016" y="34472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Status → RELEASED, CoA distributed and archived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57016" y="37216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mandatory written justification required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57016" y="399592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Status → REJECTED, sent back for rework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278892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35040" y="2788920"/>
            <a:ext cx="329184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0" y="334670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37376" y="286207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37376" y="317296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reviewed, when, what decision, any comments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37376" y="344728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regulatory inspections and investigations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37376" y="37216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— cannot be deleted even by admin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· QA-approved · Locked PDF · Fully configurable template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 — Template Engine &amp; Trigger Points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 Template drives the CoA layout · What events trigger CoA creation · PDF lock 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CoA Creation: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132588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step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e-signed by analyst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618488" y="16550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18488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55648" y="1316736"/>
            <a:ext cx="13258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55648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01368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analyst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99816" y="16550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9816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36976" y="1316736"/>
            <a:ext cx="1325880" cy="8046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36976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82696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results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81144" y="16550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81144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18304" y="1316736"/>
            <a:ext cx="132588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18304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Draft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64024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pulls from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62472" y="16550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62472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9632" y="1316736"/>
            <a:ext cx="1325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99632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45352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 applied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locked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543800" y="16550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43800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80960" y="1316736"/>
            <a:ext cx="13258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0960" y="1353312"/>
            <a:ext cx="132588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26680" y="1783446"/>
            <a:ext cx="12344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triggers CoA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population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4320" y="2267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 Template Drives the CoA: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56032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2560320"/>
            <a:ext cx="2057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 Data)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ID linked to product 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3374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 definitions: param + unit + freq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 type: time / scan / dispatch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spec tier (in-house / standard)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50008" y="350215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50008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87168" y="256032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487168" y="2560320"/>
            <a:ext cx="20574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78608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Header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(Auto-populated)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78608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Name + Batch No (from sample)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78608" y="3374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 Date + Expiry Date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78608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+ Despatch Date (from DO)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78608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Order No. + Packing type · COA No.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62856" y="350215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62856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0016" y="256032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0016" y="2560320"/>
            <a:ext cx="2057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91456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Body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Results)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91456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Name pulled from Test Method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91456" y="3374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Specification: in-house + regulatory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91456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verified LIMS calculated value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91456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Pass/Fail flag · Method ref · Analyst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75704" y="3502152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75704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12864" y="2560320"/>
            <a:ext cx="2057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912864" y="2560320"/>
            <a:ext cx="2057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04304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(e-Signatures)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04304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Analyst e-sig + timestamp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004304" y="3374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Lead verification e-sig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004304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approval e-sig + date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004304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11 + Annex 11 compliant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47365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CoA cannot be issued until ALL gates are passed: all tests complete · peer review done · QC Lead verified · all OOS investigations closed · QA approval signed. For dispatch products: DO also required.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Product · Delivery Order Triggered · Configurable Test Set · Links to CoA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 — Outgoing Product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Delivery Order · Analyst tests before dispatch · Configurable per product type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298448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Raised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Entered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No. entered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ERP auto-push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591056" y="136245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91056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024128"/>
            <a:ext cx="1298448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Container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assigned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054096" y="136245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4096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024128"/>
            <a:ext cx="1298448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Tests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test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product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17136" y="136245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17136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24128"/>
            <a:ext cx="129844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limits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80176" y="136245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0176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024128"/>
            <a:ext cx="1298448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443216" y="136245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43216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1024128"/>
            <a:ext cx="129844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0" y="1060704"/>
            <a:ext cx="12984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35240" y="1501445"/>
            <a:ext cx="120700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Ready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Dispatch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2029968"/>
            <a:ext cx="85953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2029968"/>
            <a:ext cx="859536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20482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Dispatch QC Configurable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" y="2414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outgoing product configurable in Master Data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product type has its own test set and spec limits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limit on number of product types or test parameters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liquid chemicals, gases, solid materials, formulations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64408" y="2414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Parameters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64408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Concentration / Purity / Assay 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64408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 Gravity @ Temperature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64408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Active Content (ppm / %)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6440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analytical parameter configurable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44768" y="2414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Linking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44768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Triggered by DO from ERP or manual entry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44768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Auto-populates CoA header: Customer · DO No. · Date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44768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cannot be issued until Dispatch QC passes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4476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traceability: DO ↔ Sample ↔ Result ↔ CoA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47365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 vs Incoming QC: Incoming QC = material received from supplier, tested before use in production. Outgoing QC = finished product checked before leaving site. Both are configurable for any product type.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Lot ↔ Sample ↔ Test ↔ Instrument ↔ Analyst ↔ Result ↔ CoA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— Sample as Central Node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links to the Sample · Upstream = origin · Downstream = usage · Context = how &amp; who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749040" y="2697480"/>
            <a:ext cx="1691640" cy="713232"/>
          </a:xfrm>
          <a:prstGeom prst="roundRect">
            <a:avLst>
              <a:gd name="adj" fmla="val 1794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49040" y="27523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30998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traceability node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72184"/>
            <a:ext cx="18653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759671"/>
            <a:ext cx="186537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· COA · expiry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286000" y="1746504"/>
            <a:ext cx="1463040" cy="1307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706624"/>
            <a:ext cx="18653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&amp; Standard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994111"/>
            <a:ext cx="186537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· potency · used in test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286000" y="2980944"/>
            <a:ext cx="1463040" cy="731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941064"/>
            <a:ext cx="18653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4228551"/>
            <a:ext cx="186537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cert · usage log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 flipV="1">
            <a:off x="2286000" y="3054096"/>
            <a:ext cx="1463040" cy="1161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76872" y="1472184"/>
            <a:ext cx="18196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76872" y="1759671"/>
            <a:ext cx="181965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analyst · value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 flipV="1">
            <a:off x="5440680" y="1746504"/>
            <a:ext cx="1463040" cy="1307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03720" y="265176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76872" y="2706624"/>
            <a:ext cx="18196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76872" y="2994111"/>
            <a:ext cx="181965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· distributed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 flipV="1">
            <a:off x="5440680" y="2980944"/>
            <a:ext cx="1463040" cy="731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03720" y="388620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76872" y="3941064"/>
            <a:ext cx="18196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76872" y="4228551"/>
            <a:ext cx="181965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MES link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440680" y="3054096"/>
            <a:ext cx="1463040" cy="1161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94760" y="1207008"/>
            <a:ext cx="1600200" cy="603504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67912" y="1261872"/>
            <a:ext cx="145389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67912" y="1520830"/>
            <a:ext cx="145389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when · role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599432" y="1810512"/>
            <a:ext cx="9144" cy="8869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94760" y="3950208"/>
            <a:ext cx="1600200" cy="603504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67912" y="4005072"/>
            <a:ext cx="145389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67912" y="4264030"/>
            <a:ext cx="145389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· SOP ref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599432" y="3410712"/>
            <a:ext cx="9144" cy="53949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(origin)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03720" y="987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(usage)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00016"/>
            <a:ext cx="85953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70001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trace back to supplier lot · reagent potency · instrument calibration cert · SOP version in effect at time of test  |  Downstream: which batches, which CoA, recall scope  |  All nodes are drill-down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— Full Chain Detail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links: Lot ↔ Sample ↔ Test ↔ Instrument ↔ Analyst ↔ Result ↔ CoA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36776" y="1252728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36776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01368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18104" y="1252728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18104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82696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82696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99432" y="1252728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9432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64024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252728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62088" y="1252728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1005840"/>
            <a:ext cx="129844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26680" y="1042416"/>
            <a:ext cx="12984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810512"/>
            <a:ext cx="276148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1810512"/>
            <a:ext cx="2761488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18288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— Where did it come from?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 lot origin — supplier COA and shelf life check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Reagent &amp; standard lot used in the specific test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certificate valid at time of test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34198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 / method version in effect at time of testing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 event: who sampled, when, where, quantity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82112" y="1810512"/>
            <a:ext cx="276148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82112" y="1810512"/>
            <a:ext cx="276148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73552" y="18288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— Where did it go?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73552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batches used this material lot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73552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CoA was issued for this result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73552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finished products were released using this lot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73552" y="34198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complaints or deviations linked to this lot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73552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 scope determination — traceable in seconds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9904" y="1810512"/>
            <a:ext cx="276148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89904" y="1810512"/>
            <a:ext cx="276148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81344" y="18288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UI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81344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view: node-based relationship map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81344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Batch, Lot, Date, Analyst, Instrument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81344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Drill-down from any node to full detail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81344" y="34198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per entity: who/when/what changed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81344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full chain for regulatory audit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480560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448056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Failed result → trace reagent lot + instrument  ·  Contaminated raw material → trace all batches released  ·  Audit request → full chain in one view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Modules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Logbook · Stability Testing · Instrument Management · Sample Inventory · Dashboards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Logbook — Real-Time Lab Record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replacement for the paper lab notebook · FDA and GMP mandatory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Logbook Captures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and time of test (auto-stamped — not editable)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 ID and location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name and unit (configurable)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data entered by analyst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Calculated result (system-computed — not editable)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limits and Pass / Fail status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ID and calibration status at time of test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identity (who entered the result)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95020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Electronic signature and timestamp (21 CFR Part 11)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427024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Attached evidence file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59028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 source: time-based / operator scan / process log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64008" cy="3840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789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138988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Replaces paper lab notebooks — eliminates transcription errors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170992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ALCOA+: Attributable · Legible · Contemporaneous · Original · Accurate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202996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11: unique credentials + timestamp + reason on every entry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35000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OOS detection — system flags the moment analyst submits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67004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Inspection-ready in seconds — filter by parameter, date, location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299008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Once e-signed the row is locked — no deletion, no overwrite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31012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a new official retest can supersede a locked entry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363016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Logbook vs Audit Trail: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395020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Logbook = WHAT was measured and WHAT the result was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4270248"/>
            <a:ext cx="3959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Audit Trail = WHO changed WHAT data and WHEN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Testing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Setup → Sample Pull → Time-Point Testing → Reporting &amp; Release  ·  ICH Q1A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57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Setup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product, conditions (configurable)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196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Time-points: T0, 1M, 3M, 6M, 9M, 12M, 24M+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test methods and approved specifications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storage locations per ICH Q1A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Version-controlled and QA-approved before use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3924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Auto-schedule pull reminders (T-7 and T-1 alerts)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78561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quantity per time-point defined upfront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50008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50008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87168" y="1005840"/>
            <a:ext cx="20574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78608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Pull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14264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task assigned to analyst from scheduler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18196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storage location and container ID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22128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 and record actual quantity pulled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78608" y="26060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balance deducted on confirmation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8608" y="299923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pull deviation auto-logged with reason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8608" y="33924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Auto-triggers sample registration for testing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78608" y="378561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pull escalation if not confirmed on date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62856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62856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0016" y="1005840"/>
            <a:ext cx="2057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Time-Point Testing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91456" y="14264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auto-opens test tasks for the time-point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1456" y="18196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Follows standard test execution workflow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91456" y="22128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data captured with date/time stamp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91456" y="26060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investigation mandatory at any time-point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91456" y="299923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Accelerated and long-term data tracked separately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91456" y="33924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Reagent and standard lot recorded per test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91456" y="378561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e-sign off per step (21 CFR Part 11)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75704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75704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12864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12864" y="1005840"/>
            <a:ext cx="2057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04304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Release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04304" y="14264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graphs auto-generated per test parameter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181965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analysis: slope, R², regression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22128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Shelf-life prediction from degradation rate data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4304" y="2606040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ICH-compliant stability summary report generated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4304" y="299923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sign-off on final stability report (e-sig)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04304" y="33924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Expiry date determination documented in system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04304" y="3785616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 to batch records for full traceability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4901184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ICH Q1A · ICH Q1E · 21 CFR 211.166 · All stability data is immutable and QA-approved before expiry date is assigned. Storage conditions and time-points are fully configurable.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Management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→ Qualification → Calibration → Usage Log → Maintenance → Status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984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91056" y="127101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9105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005840"/>
            <a:ext cx="12984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(IQ/OQ/PQ)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54096" y="127101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5409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12984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17136" y="127101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1713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2984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0176" y="127101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017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129844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43216" y="1271016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4321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1005840"/>
            <a:ext cx="129844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0" y="1042416"/>
            <a:ext cx="12984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874520"/>
            <a:ext cx="854964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1874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45920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3756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23560" y="1874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Point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185416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185416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Master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645920" y="218541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all lab instruments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3337560" y="2185416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Model, Serial, Location, Lab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623560" y="2185416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before any test assignment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74320" y="2523744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523744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/ OQ / PQ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645920" y="252374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Operational, Performance Qualification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3337560" y="2523744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Date, Result, Approved by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62356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— required before first use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74320" y="2862072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2862072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Schedule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645920" y="286207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 calibration due date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33756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Due Date, Frequency, Method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62356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instrument if overdue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74320" y="3200400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Execution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164592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performed, data recorded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33375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used, Results, Pass/Fail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6235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QA approval to clear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274320" y="3538728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1645920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use recorded against instrument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333756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ID, Analyst, Date, Duration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562356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of instrument usage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274320" y="3877056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1645920" y="3877056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servicing tracked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333756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Schedule, Service Date, Technician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562356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for overdue PM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274320" y="4215384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215384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/ Repair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1645920" y="4215384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repair workflow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3337560" y="4215384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description, Repair record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5623560" y="4215384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instrument during repair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274320" y="4553712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4320" y="4553712"/>
            <a:ext cx="13716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1645920" y="4553712"/>
            <a:ext cx="16916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status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3337560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/ In-Use / Maintenance / OOC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5623560" y="4553712"/>
            <a:ext cx="32004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test assignment logic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489204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Out-of-Calibration (OOC) Impact: All tests performed on an OOC instrument are automatically flagged for review and potential invalidation. Any instrument type can be registered.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Inventory &amp; Pull Planning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Mgmt → Stability Pull Schedule → Retain Sample Mgmt → Pull Execution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57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Storage Management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location master: room, chamber, shelf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Conditions per location: temp, humidity,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each sample/lot to storage location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inventory count per location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Low-stock alert threshold configurable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 excursion logging with impact assessment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transfer log with chain of custody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50008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50008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87168" y="1005840"/>
            <a:ext cx="20574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78608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Pull Scheduling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Protocol-driven: ICH Q1A conditions defined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Auto-calculate pull due dates from T0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Time-points: T0, 1M, 3M, 6M, 9M, 12M, 24M+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78608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Reminder alerts at T-7 days and T-1 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8608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pull escalation to QC Lead / QA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8608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quantity per time-point pre-defined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78608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Accelerated vs long-term schedules tracked separately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62856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62856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0016" y="1005840"/>
            <a:ext cx="2057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Sample Management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91456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 retain lot per batch at release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1456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period: configurable (e.g. shelf life + 1 yr)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91456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location assigned and tracked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91456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Destruction due date auto-alert (T-90, T-30 days)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91456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 retrieval workflow with chain of custody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91456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approval required for early destruction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91456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 to batch record and CoA for traceability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75704" y="2569464"/>
            <a:ext cx="2011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75704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12864" y="1005840"/>
            <a:ext cx="2057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12864" y="1005840"/>
            <a:ext cx="2057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04304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Execution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04304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receives pull task in Work Queue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storage location and container ID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 and record actual quantity pulled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4304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balance deducted on confirmation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4304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pull deviation auto-logged with reason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04304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Auto-triggers Sample Registration on confirm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04304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pull event audit trail: who, when, quantity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4901184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21 CFR 211.170 · ICH Q1A · EU GMP Ch 6 · Pull execution auto-triggers Sample Registration — no manual handover required. Retention periods are configurable per product type.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&amp; Lab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· TAT · Quality KPIs · Instrument Status · Automated Alerts · Compliance Readiness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698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0607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(WIP)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4264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Samples registered vs tested — live count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365760" y="170992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pending / in-progress / completed today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365760" y="199339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workload: tasks per person right now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365760" y="2276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Overdue tests highlighted with TAT breach flag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365760" y="2560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lab, analyst, sample type, date range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3172968" y="100584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172968" y="1005840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069848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10607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 (TAT)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64408" y="14264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TAT per test type — rolling 7/30 days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3264408" y="170992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TAT breach alerts: sample exceeds configured target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3264408" y="199339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TAT by analyst: identify team bottlenecks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3264408" y="2276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TAT trend chart: improving or degrading over time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3264408" y="2560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TAT targets per material and test type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6071616" y="100584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071616" y="100584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6984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19088" y="10607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163056" y="14264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rate: % of tests failing spec this period</a:t>
            </a:r>
            <a:endParaRPr lang="en-US" sz="780" dirty="0"/>
          </a:p>
        </p:txBody>
      </p:sp>
      <p:sp>
        <p:nvSpPr>
          <p:cNvPr id="28" name="Text 23"/>
          <p:cNvSpPr/>
          <p:nvPr/>
        </p:nvSpPr>
        <p:spPr>
          <a:xfrm>
            <a:off x="6163056" y="170992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Right-First-Time (RFT) rate per analyst or method</a:t>
            </a:r>
            <a:endParaRPr lang="en-US" sz="780" dirty="0"/>
          </a:p>
        </p:txBody>
      </p:sp>
      <p:sp>
        <p:nvSpPr>
          <p:cNvPr id="29" name="Text 24"/>
          <p:cNvSpPr/>
          <p:nvPr/>
        </p:nvSpPr>
        <p:spPr>
          <a:xfrm>
            <a:off x="6163056" y="199339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Retest rate: how often results are superseded</a:t>
            </a:r>
            <a:endParaRPr lang="en-US" sz="780" dirty="0"/>
          </a:p>
        </p:txBody>
      </p:sp>
      <p:sp>
        <p:nvSpPr>
          <p:cNvPr id="30" name="Text 25"/>
          <p:cNvSpPr/>
          <p:nvPr/>
        </p:nvSpPr>
        <p:spPr>
          <a:xfrm>
            <a:off x="6163056" y="2276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 open count and average resolution time</a:t>
            </a:r>
            <a:endParaRPr lang="en-US" sz="780" dirty="0"/>
          </a:p>
        </p:txBody>
      </p:sp>
      <p:sp>
        <p:nvSpPr>
          <p:cNvPr id="31" name="Text 26"/>
          <p:cNvSpPr/>
          <p:nvPr/>
        </p:nvSpPr>
        <p:spPr>
          <a:xfrm>
            <a:off x="6163056" y="2560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First-pass yield per product type — trend view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274320" y="2999232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274320" y="2999232"/>
            <a:ext cx="27432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06324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21792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Status Board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365760" y="3419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instruments: Available / In-Use / Maintenance / OOC</a:t>
            </a:r>
            <a:endParaRPr lang="en-US" sz="780" dirty="0"/>
          </a:p>
        </p:txBody>
      </p:sp>
      <p:sp>
        <p:nvSpPr>
          <p:cNvPr id="37" name="Text 31"/>
          <p:cNvSpPr/>
          <p:nvPr/>
        </p:nvSpPr>
        <p:spPr>
          <a:xfrm>
            <a:off x="365760" y="3703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due in next 7 / 30 days — colour-coded</a:t>
            </a:r>
            <a:endParaRPr lang="en-US" sz="780" dirty="0"/>
          </a:p>
        </p:txBody>
      </p:sp>
      <p:sp>
        <p:nvSpPr>
          <p:cNvPr id="38" name="Text 32"/>
          <p:cNvSpPr/>
          <p:nvPr/>
        </p:nvSpPr>
        <p:spPr>
          <a:xfrm>
            <a:off x="365760" y="398678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Utilisation rate per instrument</a:t>
            </a:r>
            <a:endParaRPr lang="en-US" sz="780" dirty="0"/>
          </a:p>
        </p:txBody>
      </p:sp>
      <p:sp>
        <p:nvSpPr>
          <p:cNvPr id="39" name="Text 33"/>
          <p:cNvSpPr/>
          <p:nvPr/>
        </p:nvSpPr>
        <p:spPr>
          <a:xfrm>
            <a:off x="365760" y="427024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OOC events: list + count for the period</a:t>
            </a:r>
            <a:endParaRPr lang="en-US" sz="780" dirty="0"/>
          </a:p>
        </p:txBody>
      </p:sp>
      <p:sp>
        <p:nvSpPr>
          <p:cNvPr id="40" name="Text 34"/>
          <p:cNvSpPr/>
          <p:nvPr/>
        </p:nvSpPr>
        <p:spPr>
          <a:xfrm>
            <a:off x="365760" y="455371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Instrument-linked result count — traceability shortcut</a:t>
            </a:r>
            <a:endParaRPr lang="en-US" sz="780" dirty="0"/>
          </a:p>
        </p:txBody>
      </p:sp>
      <p:sp>
        <p:nvSpPr>
          <p:cNvPr id="41" name="Shape 35"/>
          <p:cNvSpPr/>
          <p:nvPr/>
        </p:nvSpPr>
        <p:spPr>
          <a:xfrm>
            <a:off x="3172968" y="2999232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3172968" y="2999232"/>
            <a:ext cx="2743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976" y="3063240"/>
            <a:ext cx="219456" cy="21945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520440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&amp; Notifications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3264408" y="3419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result raised → QC Lead + QA notified instantly</a:t>
            </a:r>
            <a:endParaRPr lang="en-US" sz="780" dirty="0"/>
          </a:p>
        </p:txBody>
      </p:sp>
      <p:sp>
        <p:nvSpPr>
          <p:cNvPr id="46" name="Text 39"/>
          <p:cNvSpPr/>
          <p:nvPr/>
        </p:nvSpPr>
        <p:spPr>
          <a:xfrm>
            <a:off x="3264408" y="3703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due → instrument owner + QA alerted</a:t>
            </a:r>
            <a:endParaRPr lang="en-US" sz="780" dirty="0"/>
          </a:p>
        </p:txBody>
      </p:sp>
      <p:sp>
        <p:nvSpPr>
          <p:cNvPr id="47" name="Text 40"/>
          <p:cNvSpPr/>
          <p:nvPr/>
        </p:nvSpPr>
        <p:spPr>
          <a:xfrm>
            <a:off x="3264408" y="398678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pull → QC Lead escalation (T-7, T-1, overdue)</a:t>
            </a:r>
            <a:endParaRPr lang="en-US" sz="780" dirty="0"/>
          </a:p>
        </p:txBody>
      </p:sp>
      <p:sp>
        <p:nvSpPr>
          <p:cNvPr id="48" name="Text 41"/>
          <p:cNvSpPr/>
          <p:nvPr/>
        </p:nvSpPr>
        <p:spPr>
          <a:xfrm>
            <a:off x="3264408" y="427024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 time-point approaching → task auto-created</a:t>
            </a:r>
            <a:endParaRPr lang="en-US" sz="780" dirty="0"/>
          </a:p>
        </p:txBody>
      </p:sp>
      <p:sp>
        <p:nvSpPr>
          <p:cNvPr id="49" name="Text 42"/>
          <p:cNvSpPr/>
          <p:nvPr/>
        </p:nvSpPr>
        <p:spPr>
          <a:xfrm>
            <a:off x="3264408" y="455371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alerts server-pushed — no polling required</a:t>
            </a:r>
            <a:endParaRPr lang="en-US" sz="780" dirty="0"/>
          </a:p>
        </p:txBody>
      </p:sp>
      <p:sp>
        <p:nvSpPr>
          <p:cNvPr id="50" name="Shape 43"/>
          <p:cNvSpPr/>
          <p:nvPr/>
        </p:nvSpPr>
        <p:spPr>
          <a:xfrm>
            <a:off x="6071616" y="2999232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6071616" y="2999232"/>
            <a:ext cx="27432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3063240"/>
            <a:ext cx="219456" cy="219456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419088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Readiness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6163056" y="34198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search: who/when/what across any date range</a:t>
            </a:r>
            <a:endParaRPr lang="en-US" sz="780" dirty="0"/>
          </a:p>
        </p:txBody>
      </p:sp>
      <p:sp>
        <p:nvSpPr>
          <p:cNvPr id="55" name="Text 47"/>
          <p:cNvSpPr/>
          <p:nvPr/>
        </p:nvSpPr>
        <p:spPr>
          <a:xfrm>
            <a:off x="6163056" y="3703320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 history: all issued CoAs by product, lot, or analyst</a:t>
            </a:r>
            <a:endParaRPr lang="en-US" sz="780" dirty="0"/>
          </a:p>
        </p:txBody>
      </p:sp>
      <p:sp>
        <p:nvSpPr>
          <p:cNvPr id="56" name="Text 48"/>
          <p:cNvSpPr/>
          <p:nvPr/>
        </p:nvSpPr>
        <p:spPr>
          <a:xfrm>
            <a:off x="6163056" y="398678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OOS log: all investigations with status and outcome</a:t>
            </a:r>
            <a:endParaRPr lang="en-US" sz="780" dirty="0"/>
          </a:p>
        </p:txBody>
      </p:sp>
      <p:sp>
        <p:nvSpPr>
          <p:cNvPr id="57" name="Text 49"/>
          <p:cNvSpPr/>
          <p:nvPr/>
        </p:nvSpPr>
        <p:spPr>
          <a:xfrm>
            <a:off x="6163056" y="4270248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Electronic signature log: every sig — user, time, reason</a:t>
            </a:r>
            <a:endParaRPr lang="en-US" sz="780" dirty="0"/>
          </a:p>
        </p:txBody>
      </p:sp>
      <p:sp>
        <p:nvSpPr>
          <p:cNvPr id="58" name="Text 50"/>
          <p:cNvSpPr/>
          <p:nvPr/>
        </p:nvSpPr>
        <p:spPr>
          <a:xfrm>
            <a:off x="6163056" y="4553712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full compliance report as PDF in one click</a:t>
            </a:r>
            <a:endParaRPr lang="en-US" sz="780" dirty="0"/>
          </a:p>
        </p:txBody>
      </p:sp>
      <p:sp>
        <p:nvSpPr>
          <p:cNvPr id="59" name="Shape 5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365760" y="4864608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dashboards are role-filtered: Analyst sees own tasks + TAT. QC Lead sees team WIP + KPIs. QA sees compliance dashboard + audit trail. Admin sees full system health. All data server-calculated.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Data Integrity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 · ALCOA+ · Regulatory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 Annex 11 Compliance — Computerised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alignment with Annex 11 · 21 CFR Part 11 · ALCOA+ · Data Integrity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789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10607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(Annex 11.4)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65760" y="14447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validated before use in production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17739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plan, IQ/OQ/PQ documented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210312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control for all post-go-live changes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5760" y="2432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review of validation status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72968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72968" y="1005840"/>
            <a:ext cx="27432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07899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2152" y="10607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Signatures (Annex 11.11 · 21 CFR Part 11)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64408" y="14447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credentials per user — no shared logins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264408" y="17739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 + reason statement on every signature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264408" y="210312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copied, repudiated or falsified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264408" y="2432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at: test sign-off, QA approval, CoA, OOS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071616" y="1005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71616" y="10058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07899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10607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(Annex 11.10)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163056" y="14447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log of ALL create/update/delete actions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163056" y="17739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Records: who, when, what changed, old value, new value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163056" y="210312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disabled or edited — even by admin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163056" y="2432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Generated automatically — no analyst action needed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274320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274320" y="2944368"/>
            <a:ext cx="27432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3017520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3504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ALCOA+ (FDA / MHRA / WHO)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365760" y="33832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Attributable: every entry linked to a user identity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65760" y="37124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Legible: structured data — no free-text ambiguity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65760" y="4041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Contemporaneous: timestamp auto-captured at entry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65760" y="43708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Original: no overwrite — only new superseding entry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172968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3172968" y="2944368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832" y="3017520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502152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(Annex 11.6)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3264408" y="33832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Role-based: Analyst / QC Lead / QA / Admin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264408" y="37124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cannot approve own results — hard system rule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3264408" y="4041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cannot enter raw data — segregation enforced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3264408" y="43708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can reset passwords but cannot alter results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071616" y="29443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071616" y="2944368"/>
            <a:ext cx="2743200" cy="365760"/>
          </a:xfrm>
          <a:prstGeom prst="rect">
            <a:avLst/>
          </a:prstGeom>
          <a:solidFill>
            <a:srgbClr val="0D6E66"/>
          </a:solidFill>
          <a:ln w="12700">
            <a:solidFill>
              <a:srgbClr val="0D6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17520"/>
            <a:ext cx="219456" cy="21945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00800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Recovery &amp; Continuity (Annex 11.17)</a:t>
            </a:r>
            <a:endParaRPr lang="en-US" sz="850" dirty="0"/>
          </a:p>
        </p:txBody>
      </p:sp>
      <p:sp>
        <p:nvSpPr>
          <p:cNvPr id="49" name="Text 41"/>
          <p:cNvSpPr/>
          <p:nvPr/>
        </p:nvSpPr>
        <p:spPr>
          <a:xfrm>
            <a:off x="6163056" y="33832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automated backups of all LIMS data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163056" y="37124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procedure tested and documented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6163056" y="4041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Offline-capable mode: queued, synced on reconnect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163056" y="43708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single point of failure for critical operations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365760" y="4809744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11 applies to all computerised systems used in GMP-regulated activities. Periodic audits must verify audit trail integrity, user access logs, and backup/recovery records.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Data Integrity — ALCOA+ in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ALCOA+ principle is enforced at every step of the LIMS workflow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0972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3350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entry, calculation and decision is linked to a named user with a timestamp.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159105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with unique credentials — no shared accounts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e-Signature on every test step, review, and approval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32688" y="195681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identity recorded in logbook row, audit trail, and CoA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1155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67528" y="10972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67528" y="13350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readable, permanent and structured — now and in the future.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67528" y="159105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data fields — no free-text for critical values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67528" y="177393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System-enforced field types (numeric, text, pass/fail)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67528" y="195681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CoA locked after sign-off — cannot be reformatted or lost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3042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41401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" y="239572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263347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recorded at the time the action occurs — not reconstructed later.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2688" y="288950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 auto-captured at moment of entry — analyst cannot backdate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2688" y="307238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Log rows must be filled during the shift, not after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32688" y="325526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Queue task start time logged the moment analyst clicks Start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23042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41401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67528" y="239572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67528" y="263347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capture of data is preserved — corrections create new records, not overwrites.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67528" y="288950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overwrite: all corrections create a new superseding entry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67528" y="307238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value + corrected value both stored in audit trail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67528" y="3255264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Deleted records kept as soft-delete with reason — never erased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60273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37124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2688" y="369417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" y="393192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reflects the true result — no transcription, rounding or manual calculation errors.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32688" y="418795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auto-calculates from raw data using validated formulas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32688" y="437083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Table-lookup formula: auto-converts raw measurement to result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32688" y="455371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data: imported directly or verified by second analyst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09160" y="360273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00600" y="37124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D6E66"/>
          </a:solidFill>
          <a:ln w="12700">
            <a:solidFill>
              <a:srgbClr val="0D6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67528" y="369417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Consistent · Enduring · Available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67528" y="393192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ALCOA principles required by FDA, MHRA and WHO.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67528" y="418795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Complete: system blocks partial sign-off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67528" y="437083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Consistent: same format across all forms via Form Template engine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367528" y="455371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Enduring: data retained per retention policy — never purged without QA approval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367528" y="4736592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Available: full chain retrievable on demand for any audit or recall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919472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is the FDA / MHRA / WHO data integrity standard for all GMP-regulated computerised systems. Every bullet above maps directly to a system control implemented in the LIMS workflow.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Data Integrity Controls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 · ALCOA+ · Role-based segregation of duties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64108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10058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4920" y="1005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Applied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16736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1316736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/ Annex 11 compliant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4920" y="1316736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completion, QA review, CoA, OOS decisions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0" y="1691640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log: who, when, what, old/new values on every action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4920" y="1691640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— create / update / delete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066544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066544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(ALCOA+)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20240" y="2066544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Attributable, Legible, Contemporaneous, Original, Accurate+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4920" y="2066544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entry, instrument import, result capture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441448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441448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QC Lead / QA / Admin — hard segregation of duties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4920" y="2441448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modules; analyst cannot self-approve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816352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Deletion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2816352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only; all records retained with reason and timestamp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4920" y="2816352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Samples, results, OOS events, instruments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191256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191256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Deviation Control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20240" y="3191256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Phase 1+2 investigation before batch can proceed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4920" y="3191256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Execution, QA Review, Release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566160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Versioning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20240" y="3566160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current approved specification version used for testing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3566160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registration, result comparison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941064"/>
            <a:ext cx="854964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941064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Block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20240" y="3941064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hard-blocked on non-calibrated or under-maintenance instruments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74920" y="3941064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assignment, test start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315968"/>
            <a:ext cx="85496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315968"/>
            <a:ext cx="1645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Lock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20240" y="4315968"/>
            <a:ext cx="31546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PDF locked (read-only, tamper-evident) after QA sign-off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4920" y="4315968"/>
            <a:ext cx="38404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 — all output formats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882896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ID format is configurable: SITE-CODE + Material Code + Date (YYYYMMDD) + Sequence. Format can be set per site or per lab in the system configuration.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 Classification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Mandatory · Tier 2: Strongly Recommended · Tier 3: Value-Add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Mandatory  |  Required by regulation — no exceptions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737360" y="1280160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log: who, when, what, old/new values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434840" y="1280160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572768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737360" y="1572768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credentials, timestamp, reason recorded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434840" y="1572768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186537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865376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investigation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737360" y="1865376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Phase 2 mandatory; locked until closed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434840" y="1865376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OOS Guidance 2006 · 21 CFR 211.192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(ALCOA+)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737360" y="2157984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Attributable, Legible, Contemporaneous, Original, Accurate+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434840" y="2157984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DI Guidance · MHRA · WHO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management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737360" y="2450592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version-controlled spec required before testing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434840" y="2450592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Q6A · 21 CFR 211.194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sample records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737360" y="2743200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samples kept per retention policy; chain of custody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434840" y="2743200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211.170 · EU GMP Ch 6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4320" y="3081528"/>
            <a:ext cx="85953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0998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Strongly Recommended  |  GMP expectation in practice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35584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calibration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737360" y="3355848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records traceable to every result; OOC blocks testing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434840" y="3355848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 Ch 6 · ISO 17025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74320" y="364845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648456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pull scheduling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737360" y="3648456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Q1A time-points met; missed pull = potential data invalidation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434840" y="3648456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Q1A · 21 CFR 211.166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74320" y="3941064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3941064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1737360" y="3941064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locked CoA traceable to verified LIMS results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434840" y="3941064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211.194 · EU GMP Ch 6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274320" y="423367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233672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737360" y="4233672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duties; analyst cannot self-approve results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434840" y="4233672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Annex 11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74320" y="452628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4526280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sample traceability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1737360" y="4526280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↔ Sample ↔ Test ↔ Instrument ↔ Analyst ↔ Result chain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434840" y="4526280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PAI readiness · GMP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88289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Value-Add  |  Operational efficiency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513892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5138928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storage inventory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1737360" y="5138928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stock-outs and missed pulls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4434840" y="5138928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best practice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274320" y="543153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5431536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planning automation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1737360" y="5431536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T-7/T-1 alerts prevent missed ICH time-points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4434840" y="5431536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ICH Q1A compliance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274320" y="5724144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74320" y="5724144"/>
            <a:ext cx="14630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dashboards &amp; alerts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1737360" y="5724144"/>
            <a:ext cx="2697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throughput visibility; overdue samples flagged in real-time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4434840" y="5724144"/>
            <a:ext cx="4389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best practice</a:t>
            </a:r>
            <a:endParaRPr lang="en-US" sz="7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&amp; Governance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Points · Architecture Contracts · Authentication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Design Principles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rules that govern every module and every sprint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4964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00584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63040" y="1005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1005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316736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58368" y="1316736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Sample-Centric Design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463040" y="1316736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workflows revolve around the sample lifecycle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114800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navigation and traceability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" y="1655064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655064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58368" y="1655064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Testing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463040" y="1655064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auto-assigned from approved specification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114800" y="1655064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test selection errors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1993392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58368" y="1993392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Rule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46304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or screen must not exist in multiple places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11480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inconsistency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" y="2331720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331720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58368" y="2331720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Blocking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46304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blocked if instrument not calibrated or available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1148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reliability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4320" y="2670048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670048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8368" y="2670048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Principle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46304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enters → QC Lead verifies → QA approves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1148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(GMP requirement)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74320" y="3008376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3008376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58368" y="3008376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463040" y="3008376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cannot be altered after e-sig — only superseded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11480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(ALCOA+)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74320" y="3346704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3346704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58368" y="3346704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Gating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463040" y="3346704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cannot proceed to release while any OOS is open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11480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investigation completion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74320" y="3685032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3685032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658368" y="3685032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1463040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Methods, Templates must have QA-approved versions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11480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process changes historically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274320" y="4023360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023360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58368" y="4023360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146304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links: Sample, Method, Instrument, Analyst, CoA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1148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regulatory compliance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274320" y="4361688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4361688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58368" y="4361688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1463040" y="4361688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logged: who, when, what, old/new values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4114800" y="4361688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regulatory audits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274320" y="4700016"/>
            <a:ext cx="8549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700016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58368" y="4700016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UI Design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1463040" y="4700016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filters, drill-downs — no decorative UI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114800" y="4700016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industrial analyst needs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74320" y="5038344"/>
            <a:ext cx="8549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4320" y="5038344"/>
            <a:ext cx="384048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58368" y="5038344"/>
            <a:ext cx="804672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Configurable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1463040" y="5038344"/>
            <a:ext cx="2651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previous — no hardcoded values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4114800" y="5038344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product, site or test without code change</a:t>
            </a:r>
            <a:endParaRPr lang="en-US" sz="7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Architecture Contracts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apply to every request and every sprint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1 — General Rules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code duplication — normalise any repeated logic into a shared function or component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dead code — remove all unused routes, components, or database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85623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migration if existing DB can be updated in place — prefer alter over recreate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13055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portable: connection string swappable to any cloud DB with ZERO functional impact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40487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source of data — all calculations via normaliser, stored in separate table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679192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separation: Backend, Frontend and Database must have no cross-dependencies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026664"/>
            <a:ext cx="8595360" cy="3017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0449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2 — Backend Architecture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328416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compute and calculation on the server — never in client-side code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60273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3602736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push events (OOS alerts, due-date reminders, calibration warnings) from server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87705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877056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hardcoded values — all configuration in database or environment variables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15137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4151376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normaliser for data aggregation — consistent results across all UI screens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42569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425696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Pagination component — used everywhere pagination appears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4773168"/>
            <a:ext cx="859536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4 — Authentication &amp; Access Control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5074920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page: username/password + Forgot Password + Remember Me functionality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534924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5349240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First-time setup: Tenant Admin creation flow before any other user can be created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562356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5623560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types: Admin (full authority, reset any password) and Regular User (view-only by default)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589788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5897880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role model — each role defines exactly what the user can Create/Read/Update/Delete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617220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" y="6172200"/>
            <a:ext cx="8366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users write only to areas explicitly defined in the project specification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LIMS — Configurable · Multi-site · GMP-compliant · Industry-agnostic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Instruments · Materials · Specs · Form Templates · Methods · Users · All configurable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37760" y="1353312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89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· Critical flag · Column-level frequency · Table-lookup formula · Dual spec tier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· Scan · Process Log (shift-based) · Grouped multi-location · Dispatch QC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37760" y="1956816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9933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→ Validate (5 checks) → Form Template → SRF → Work Queue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596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· File import · Auto-correction · OOS Phase 1+2 · Evidence + e-sign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37760" y="2560320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596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intervals · Time-slot grid · Shift parameters · Row e-sign locked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163824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Management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4381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· QC Lead verify · Consolidate · CoA draft auto-populated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37760" y="3163824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2004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Release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4381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gate · CoA validation · Approve/Reject · CoA PDF locked · Audit-logged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8039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041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· Customer/DO header · In-house + regulatory spec · PDF locked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3767328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8039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041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DO-triggered · Configurable per product type · Cleared → CoA issued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4370832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407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6451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Lot ↔ Sample ↔ Test ↔ Instrument ↔ Analyst ↔ Result ↔ CoA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937760" y="4370832"/>
            <a:ext cx="42062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4407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46451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 · ALCOA+ · Immutable audit trail · Tier 1/2/3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Suitability — Pharmaceutical &amp; Chemical Industry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assessment · Fully covered · Partially covered · Recommended additions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103120" cy="23774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Fully Covered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987552"/>
            <a:ext cx="210312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Partial / Configurable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987552"/>
            <a:ext cx="210312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Recommended Addition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411480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9184" y="1344168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Industry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691640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1709928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" y="1691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e-signatures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2651760" y="16916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test, QA approval, CoA, OOS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274320" y="1901952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192024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 Annex 11 compliance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2651760" y="19019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audit trail, backup, access control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274320" y="2112264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2130552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" y="2112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data integrity</a:t>
            </a:r>
            <a:endParaRPr lang="en-US" sz="780" dirty="0"/>
          </a:p>
        </p:txBody>
      </p:sp>
      <p:sp>
        <p:nvSpPr>
          <p:cNvPr id="25" name="Text 19"/>
          <p:cNvSpPr/>
          <p:nvPr/>
        </p:nvSpPr>
        <p:spPr>
          <a:xfrm>
            <a:off x="2651760" y="21122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principles enforced by system controls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274320" y="2322576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2340864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" y="2322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 investigation workflow</a:t>
            </a:r>
            <a:endParaRPr lang="en-US" sz="780" dirty="0"/>
          </a:p>
        </p:txBody>
      </p:sp>
      <p:sp>
        <p:nvSpPr>
          <p:cNvPr id="29" name="Text 22"/>
          <p:cNvSpPr/>
          <p:nvPr/>
        </p:nvSpPr>
        <p:spPr>
          <a:xfrm>
            <a:off x="2651760" y="23225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Phase 2, CAPA, batch gating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274320" y="2532888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2551176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" y="2532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testing (ICH Q1A/Q1E)</a:t>
            </a:r>
            <a:endParaRPr lang="en-US" sz="780" dirty="0"/>
          </a:p>
        </p:txBody>
      </p:sp>
      <p:sp>
        <p:nvSpPr>
          <p:cNvPr id="33" name="Text 25"/>
          <p:cNvSpPr/>
          <p:nvPr/>
        </p:nvSpPr>
        <p:spPr>
          <a:xfrm>
            <a:off x="2651760" y="2532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schedule, T-7/T-1 alerts, shelf-life calc</a:t>
            </a:r>
            <a:endParaRPr lang="en-US" sz="700" dirty="0"/>
          </a:p>
        </p:txBody>
      </p:sp>
      <p:sp>
        <p:nvSpPr>
          <p:cNvPr id="34" name="Shape 26"/>
          <p:cNvSpPr/>
          <p:nvPr/>
        </p:nvSpPr>
        <p:spPr>
          <a:xfrm>
            <a:off x="274320" y="2743200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2761488"/>
            <a:ext cx="164592" cy="16459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2064" y="2743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traceability (Lot → CoA)</a:t>
            </a:r>
            <a:endParaRPr lang="en-US" sz="780" dirty="0"/>
          </a:p>
        </p:txBody>
      </p:sp>
      <p:sp>
        <p:nvSpPr>
          <p:cNvPr id="37" name="Text 28"/>
          <p:cNvSpPr/>
          <p:nvPr/>
        </p:nvSpPr>
        <p:spPr>
          <a:xfrm>
            <a:off x="2651760" y="2743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upstream + downstream chain</a:t>
            </a:r>
            <a:endParaRPr lang="en-US" sz="700" dirty="0"/>
          </a:p>
        </p:txBody>
      </p:sp>
      <p:sp>
        <p:nvSpPr>
          <p:cNvPr id="38" name="Shape 29"/>
          <p:cNvSpPr/>
          <p:nvPr/>
        </p:nvSpPr>
        <p:spPr>
          <a:xfrm>
            <a:off x="274320" y="2953512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2971800"/>
            <a:ext cx="164592" cy="16459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12064" y="2953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specifications</a:t>
            </a:r>
            <a:endParaRPr lang="en-US" sz="780" dirty="0"/>
          </a:p>
        </p:txBody>
      </p:sp>
      <p:sp>
        <p:nvSpPr>
          <p:cNvPr id="41" name="Text 31"/>
          <p:cNvSpPr/>
          <p:nvPr/>
        </p:nvSpPr>
        <p:spPr>
          <a:xfrm>
            <a:off x="2651760" y="29535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+ regulatory tier, QA-approved</a:t>
            </a:r>
            <a:endParaRPr lang="en-US" sz="700" dirty="0"/>
          </a:p>
        </p:txBody>
      </p:sp>
      <p:sp>
        <p:nvSpPr>
          <p:cNvPr id="42" name="Shape 32"/>
          <p:cNvSpPr/>
          <p:nvPr/>
        </p:nvSpPr>
        <p:spPr>
          <a:xfrm>
            <a:off x="274320" y="3163824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3182112"/>
            <a:ext cx="164592" cy="16459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12064" y="31638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/ reserve samples</a:t>
            </a:r>
            <a:endParaRPr lang="en-US" sz="780" dirty="0"/>
          </a:p>
        </p:txBody>
      </p:sp>
      <p:sp>
        <p:nvSpPr>
          <p:cNvPr id="45" name="Text 34"/>
          <p:cNvSpPr/>
          <p:nvPr/>
        </p:nvSpPr>
        <p:spPr>
          <a:xfrm>
            <a:off x="2651760" y="31638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period, recall retrieval, chain of custody</a:t>
            </a:r>
            <a:endParaRPr lang="en-US" sz="700" dirty="0"/>
          </a:p>
        </p:txBody>
      </p:sp>
      <p:sp>
        <p:nvSpPr>
          <p:cNvPr id="46" name="Shape 35"/>
          <p:cNvSpPr/>
          <p:nvPr/>
        </p:nvSpPr>
        <p:spPr>
          <a:xfrm>
            <a:off x="274320" y="3374136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3392424"/>
            <a:ext cx="164592" cy="16459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12064" y="3374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calibration &amp; OOC block</a:t>
            </a:r>
            <a:endParaRPr lang="en-US" sz="780" dirty="0"/>
          </a:p>
        </p:txBody>
      </p:sp>
      <p:sp>
        <p:nvSpPr>
          <p:cNvPr id="49" name="Text 37"/>
          <p:cNvSpPr/>
          <p:nvPr/>
        </p:nvSpPr>
        <p:spPr>
          <a:xfrm>
            <a:off x="2651760" y="33741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testing on non-calibrated instruments</a:t>
            </a:r>
            <a:endParaRPr lang="en-US" sz="700" dirty="0"/>
          </a:p>
        </p:txBody>
      </p:sp>
      <p:sp>
        <p:nvSpPr>
          <p:cNvPr id="50" name="Shape 38"/>
          <p:cNvSpPr/>
          <p:nvPr/>
        </p:nvSpPr>
        <p:spPr>
          <a:xfrm>
            <a:off x="274320" y="3584448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3602736"/>
            <a:ext cx="164592" cy="164592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12064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 (21 CFR 211.194)</a:t>
            </a:r>
            <a:endParaRPr lang="en-US" sz="780" dirty="0"/>
          </a:p>
        </p:txBody>
      </p:sp>
      <p:sp>
        <p:nvSpPr>
          <p:cNvPr id="53" name="Text 40"/>
          <p:cNvSpPr/>
          <p:nvPr/>
        </p:nvSpPr>
        <p:spPr>
          <a:xfrm>
            <a:off x="2651760" y="3584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Auto-populated, QA-locked PDF</a:t>
            </a:r>
            <a:endParaRPr lang="en-US" sz="700" dirty="0"/>
          </a:p>
        </p:txBody>
      </p:sp>
      <p:sp>
        <p:nvSpPr>
          <p:cNvPr id="54" name="Shape 41"/>
          <p:cNvSpPr/>
          <p:nvPr/>
        </p:nvSpPr>
        <p:spPr>
          <a:xfrm>
            <a:off x="274320" y="3794760"/>
            <a:ext cx="41148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3813048"/>
            <a:ext cx="164592" cy="164592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512064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validation data capture</a:t>
            </a:r>
            <a:endParaRPr lang="en-US" sz="780" dirty="0"/>
          </a:p>
        </p:txBody>
      </p:sp>
      <p:sp>
        <p:nvSpPr>
          <p:cNvPr id="57" name="Text 43"/>
          <p:cNvSpPr/>
          <p:nvPr/>
        </p:nvSpPr>
        <p:spPr>
          <a:xfrm>
            <a:off x="2651760" y="37947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configurable — ELN module needed for full method lifecycle</a:t>
            </a:r>
            <a:endParaRPr lang="en-US" sz="700" dirty="0"/>
          </a:p>
        </p:txBody>
      </p:sp>
      <p:sp>
        <p:nvSpPr>
          <p:cNvPr id="58" name="Shape 44"/>
          <p:cNvSpPr/>
          <p:nvPr/>
        </p:nvSpPr>
        <p:spPr>
          <a:xfrm>
            <a:off x="274320" y="4005072"/>
            <a:ext cx="41148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4023360"/>
            <a:ext cx="164592" cy="164592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512064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 (EM)</a:t>
            </a:r>
            <a:endParaRPr lang="en-US" sz="780" dirty="0"/>
          </a:p>
        </p:txBody>
      </p:sp>
      <p:sp>
        <p:nvSpPr>
          <p:cNvPr id="61" name="Text 46"/>
          <p:cNvSpPr/>
          <p:nvPr/>
        </p:nvSpPr>
        <p:spPr>
          <a:xfrm>
            <a:off x="2651760" y="4005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as process monitoring — dedicated EM module in roadmap</a:t>
            </a:r>
            <a:endParaRPr lang="en-US" sz="700" dirty="0"/>
          </a:p>
        </p:txBody>
      </p:sp>
      <p:sp>
        <p:nvSpPr>
          <p:cNvPr id="62" name="Shape 47"/>
          <p:cNvSpPr/>
          <p:nvPr/>
        </p:nvSpPr>
        <p:spPr>
          <a:xfrm>
            <a:off x="274320" y="4215384"/>
            <a:ext cx="41148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4233672"/>
            <a:ext cx="164592" cy="164592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512064" y="4215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/ bioburden testing</a:t>
            </a:r>
            <a:endParaRPr lang="en-US" sz="780" dirty="0"/>
          </a:p>
        </p:txBody>
      </p:sp>
      <p:sp>
        <p:nvSpPr>
          <p:cNvPr id="65" name="Text 49"/>
          <p:cNvSpPr/>
          <p:nvPr/>
        </p:nvSpPr>
        <p:spPr>
          <a:xfrm>
            <a:off x="2651760" y="4215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as test type — growth promotion, ID workflow to add</a:t>
            </a:r>
            <a:endParaRPr lang="en-US" sz="700" dirty="0"/>
          </a:p>
        </p:txBody>
      </p:sp>
      <p:sp>
        <p:nvSpPr>
          <p:cNvPr id="66" name="Shape 50"/>
          <p:cNvSpPr/>
          <p:nvPr/>
        </p:nvSpPr>
        <p:spPr>
          <a:xfrm>
            <a:off x="274320" y="4425696"/>
            <a:ext cx="41148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4443984"/>
            <a:ext cx="164592" cy="164592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512064" y="4425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validation records</a:t>
            </a:r>
            <a:endParaRPr lang="en-US" sz="780" dirty="0"/>
          </a:p>
        </p:txBody>
      </p:sp>
      <p:sp>
        <p:nvSpPr>
          <p:cNvPr id="69" name="Text 52"/>
          <p:cNvSpPr/>
          <p:nvPr/>
        </p:nvSpPr>
        <p:spPr>
          <a:xfrm>
            <a:off x="2651760" y="44256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cleaning verification workflow — Phase 2 addition</a:t>
            </a:r>
            <a:endParaRPr lang="en-US" sz="700" dirty="0"/>
          </a:p>
        </p:txBody>
      </p:sp>
      <p:sp>
        <p:nvSpPr>
          <p:cNvPr id="70" name="Shape 53"/>
          <p:cNvSpPr/>
          <p:nvPr/>
        </p:nvSpPr>
        <p:spPr>
          <a:xfrm>
            <a:off x="274320" y="4636008"/>
            <a:ext cx="41148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1752" y="4654296"/>
            <a:ext cx="164592" cy="164592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512064" y="4636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management (EBR)</a:t>
            </a:r>
            <a:endParaRPr lang="en-US" sz="780" dirty="0"/>
          </a:p>
        </p:txBody>
      </p:sp>
      <p:sp>
        <p:nvSpPr>
          <p:cNvPr id="73" name="Text 55"/>
          <p:cNvSpPr/>
          <p:nvPr/>
        </p:nvSpPr>
        <p:spPr>
          <a:xfrm>
            <a:off x="2651760" y="4636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MES/ERP integration for EBR — Phase 2 addition</a:t>
            </a:r>
            <a:endParaRPr lang="en-US" sz="700" dirty="0"/>
          </a:p>
        </p:txBody>
      </p:sp>
      <p:sp>
        <p:nvSpPr>
          <p:cNvPr id="74" name="Shape 56"/>
          <p:cNvSpPr/>
          <p:nvPr/>
        </p:nvSpPr>
        <p:spPr>
          <a:xfrm>
            <a:off x="4754880" y="1298448"/>
            <a:ext cx="411480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09744" y="1344168"/>
            <a:ext cx="219456" cy="219456"/>
          </a:xfrm>
          <a:prstGeom prst="rect">
            <a:avLst/>
          </a:prstGeom>
        </p:spPr>
      </p:pic>
      <p:sp>
        <p:nvSpPr>
          <p:cNvPr id="76" name="Text 57"/>
          <p:cNvSpPr/>
          <p:nvPr/>
        </p:nvSpPr>
        <p:spPr>
          <a:xfrm>
            <a:off x="5084064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Manufacturing</a:t>
            </a:r>
            <a:endParaRPr lang="en-US" sz="1100" dirty="0"/>
          </a:p>
        </p:txBody>
      </p:sp>
      <p:sp>
        <p:nvSpPr>
          <p:cNvPr id="77" name="Shape 58"/>
          <p:cNvSpPr/>
          <p:nvPr/>
        </p:nvSpPr>
        <p:spPr>
          <a:xfrm>
            <a:off x="4754880" y="1691640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1709928"/>
            <a:ext cx="164592" cy="164592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4992624" y="1691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monitoring (continuous)</a:t>
            </a:r>
            <a:endParaRPr lang="en-US" sz="780" dirty="0"/>
          </a:p>
        </p:txBody>
      </p:sp>
      <p:sp>
        <p:nvSpPr>
          <p:cNvPr id="80" name="Text 60"/>
          <p:cNvSpPr/>
          <p:nvPr/>
        </p:nvSpPr>
        <p:spPr>
          <a:xfrm>
            <a:off x="7132320" y="16916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Log: configurable shift-based testing</a:t>
            </a:r>
            <a:endParaRPr lang="en-US" sz="700" dirty="0"/>
          </a:p>
        </p:txBody>
      </p:sp>
      <p:sp>
        <p:nvSpPr>
          <p:cNvPr id="81" name="Shape 61"/>
          <p:cNvSpPr/>
          <p:nvPr/>
        </p:nvSpPr>
        <p:spPr>
          <a:xfrm>
            <a:off x="4754880" y="1901952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2" name="Image 18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1920240"/>
            <a:ext cx="164592" cy="164592"/>
          </a:xfrm>
          <a:prstGeom prst="rect">
            <a:avLst/>
          </a:prstGeom>
        </p:spPr>
      </p:pic>
      <p:sp>
        <p:nvSpPr>
          <p:cNvPr id="83" name="Text 62"/>
          <p:cNvSpPr/>
          <p:nvPr/>
        </p:nvSpPr>
        <p:spPr>
          <a:xfrm>
            <a:off x="4992624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Multi-tank / multi-location forms</a:t>
            </a:r>
            <a:endParaRPr lang="en-US" sz="780" dirty="0"/>
          </a:p>
        </p:txBody>
      </p:sp>
      <p:sp>
        <p:nvSpPr>
          <p:cNvPr id="84" name="Text 63"/>
          <p:cNvSpPr/>
          <p:nvPr/>
        </p:nvSpPr>
        <p:spPr>
          <a:xfrm>
            <a:off x="7132320" y="19019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checkpoint — per-column specs</a:t>
            </a:r>
            <a:endParaRPr lang="en-US" sz="700" dirty="0"/>
          </a:p>
        </p:txBody>
      </p:sp>
      <p:sp>
        <p:nvSpPr>
          <p:cNvPr id="85" name="Shape 64"/>
          <p:cNvSpPr/>
          <p:nvPr/>
        </p:nvSpPr>
        <p:spPr>
          <a:xfrm>
            <a:off x="4754880" y="2112264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6" name="Image 19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2130552"/>
            <a:ext cx="164592" cy="164592"/>
          </a:xfrm>
          <a:prstGeom prst="rect">
            <a:avLst/>
          </a:prstGeom>
        </p:spPr>
      </p:pic>
      <p:sp>
        <p:nvSpPr>
          <p:cNvPr id="87" name="Text 65"/>
          <p:cNvSpPr/>
          <p:nvPr/>
        </p:nvSpPr>
        <p:spPr>
          <a:xfrm>
            <a:off x="4992624" y="2112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temperature correction</a:t>
            </a:r>
            <a:endParaRPr lang="en-US" sz="780" dirty="0"/>
          </a:p>
        </p:txBody>
      </p:sp>
      <p:sp>
        <p:nvSpPr>
          <p:cNvPr id="88" name="Text 66"/>
          <p:cNvSpPr/>
          <p:nvPr/>
        </p:nvSpPr>
        <p:spPr>
          <a:xfrm>
            <a:off x="7132320" y="21122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Table-lookup formula: Actual SG + Temp → %</a:t>
            </a:r>
            <a:endParaRPr lang="en-US" sz="700" dirty="0"/>
          </a:p>
        </p:txBody>
      </p:sp>
      <p:sp>
        <p:nvSpPr>
          <p:cNvPr id="89" name="Shape 67"/>
          <p:cNvSpPr/>
          <p:nvPr/>
        </p:nvSpPr>
        <p:spPr>
          <a:xfrm>
            <a:off x="4754880" y="2322576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0" name="Image 2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2340864"/>
            <a:ext cx="164592" cy="164592"/>
          </a:xfrm>
          <a:prstGeom prst="rect">
            <a:avLst/>
          </a:prstGeom>
        </p:spPr>
      </p:pic>
      <p:sp>
        <p:nvSpPr>
          <p:cNvPr id="91" name="Text 68"/>
          <p:cNvSpPr/>
          <p:nvPr/>
        </p:nvSpPr>
        <p:spPr>
          <a:xfrm>
            <a:off x="4992624" y="2322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checkpoints</a:t>
            </a:r>
            <a:endParaRPr lang="en-US" sz="780" dirty="0"/>
          </a:p>
        </p:txBody>
      </p:sp>
      <p:sp>
        <p:nvSpPr>
          <p:cNvPr id="92" name="Text 69"/>
          <p:cNvSpPr/>
          <p:nvPr/>
        </p:nvSpPr>
        <p:spPr>
          <a:xfrm>
            <a:off x="7132320" y="23225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parameters grouped per location</a:t>
            </a:r>
            <a:endParaRPr lang="en-US" sz="700" dirty="0"/>
          </a:p>
        </p:txBody>
      </p:sp>
      <p:sp>
        <p:nvSpPr>
          <p:cNvPr id="93" name="Shape 70"/>
          <p:cNvSpPr/>
          <p:nvPr/>
        </p:nvSpPr>
        <p:spPr>
          <a:xfrm>
            <a:off x="4754880" y="2532888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4" name="Image 2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2551176"/>
            <a:ext cx="164592" cy="164592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992624" y="2532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product QC (dispatch)</a:t>
            </a:r>
            <a:endParaRPr lang="en-US" sz="780" dirty="0"/>
          </a:p>
        </p:txBody>
      </p:sp>
      <p:sp>
        <p:nvSpPr>
          <p:cNvPr id="96" name="Text 72"/>
          <p:cNvSpPr/>
          <p:nvPr/>
        </p:nvSpPr>
        <p:spPr>
          <a:xfrm>
            <a:off x="7132320" y="2532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DO-triggered, configurable test set</a:t>
            </a:r>
            <a:endParaRPr lang="en-US" sz="700" dirty="0"/>
          </a:p>
        </p:txBody>
      </p:sp>
      <p:sp>
        <p:nvSpPr>
          <p:cNvPr id="97" name="Shape 73"/>
          <p:cNvSpPr/>
          <p:nvPr/>
        </p:nvSpPr>
        <p:spPr>
          <a:xfrm>
            <a:off x="4754880" y="2743200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8" name="Image 2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2761488"/>
            <a:ext cx="164592" cy="164592"/>
          </a:xfrm>
          <a:prstGeom prst="rect">
            <a:avLst/>
          </a:prstGeom>
        </p:spPr>
      </p:pic>
      <p:sp>
        <p:nvSpPr>
          <p:cNvPr id="99" name="Text 74"/>
          <p:cNvSpPr/>
          <p:nvPr/>
        </p:nvSpPr>
        <p:spPr>
          <a:xfrm>
            <a:off x="4992624" y="2743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raw material inspection</a:t>
            </a:r>
            <a:endParaRPr lang="en-US" sz="780" dirty="0"/>
          </a:p>
        </p:txBody>
      </p:sp>
      <p:sp>
        <p:nvSpPr>
          <p:cNvPr id="100" name="Text 75"/>
          <p:cNvSpPr/>
          <p:nvPr/>
        </p:nvSpPr>
        <p:spPr>
          <a:xfrm>
            <a:off x="7132320" y="2743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COA link, spec comparison</a:t>
            </a:r>
            <a:endParaRPr lang="en-US" sz="700" dirty="0"/>
          </a:p>
        </p:txBody>
      </p:sp>
      <p:sp>
        <p:nvSpPr>
          <p:cNvPr id="101" name="Shape 76"/>
          <p:cNvSpPr/>
          <p:nvPr/>
        </p:nvSpPr>
        <p:spPr>
          <a:xfrm>
            <a:off x="4754880" y="2953512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 2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2971800"/>
            <a:ext cx="164592" cy="164592"/>
          </a:xfrm>
          <a:prstGeom prst="rect">
            <a:avLst/>
          </a:prstGeom>
        </p:spPr>
      </p:pic>
      <p:sp>
        <p:nvSpPr>
          <p:cNvPr id="103" name="Text 77"/>
          <p:cNvSpPr/>
          <p:nvPr/>
        </p:nvSpPr>
        <p:spPr>
          <a:xfrm>
            <a:off x="4992624" y="2953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/ vessel monitoring</a:t>
            </a:r>
            <a:endParaRPr lang="en-US" sz="780" dirty="0"/>
          </a:p>
        </p:txBody>
      </p:sp>
      <p:sp>
        <p:nvSpPr>
          <p:cNvPr id="104" name="Text 78"/>
          <p:cNvSpPr/>
          <p:nvPr/>
        </p:nvSpPr>
        <p:spPr>
          <a:xfrm>
            <a:off x="7132320" y="29535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form covers multiple vessels simultaneously</a:t>
            </a:r>
            <a:endParaRPr lang="en-US" sz="700" dirty="0"/>
          </a:p>
        </p:txBody>
      </p:sp>
      <p:sp>
        <p:nvSpPr>
          <p:cNvPr id="105" name="Shape 79"/>
          <p:cNvSpPr/>
          <p:nvPr/>
        </p:nvSpPr>
        <p:spPr>
          <a:xfrm>
            <a:off x="4754880" y="3163824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6" name="Image 2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3182112"/>
            <a:ext cx="164592" cy="164592"/>
          </a:xfrm>
          <a:prstGeom prst="rect">
            <a:avLst/>
          </a:prstGeom>
        </p:spPr>
      </p:pic>
      <p:sp>
        <p:nvSpPr>
          <p:cNvPr id="107" name="Text 80"/>
          <p:cNvSpPr/>
          <p:nvPr/>
        </p:nvSpPr>
        <p:spPr>
          <a:xfrm>
            <a:off x="4992624" y="31638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&amp; standard traceability</a:t>
            </a:r>
            <a:endParaRPr lang="en-US" sz="780" dirty="0"/>
          </a:p>
        </p:txBody>
      </p:sp>
      <p:sp>
        <p:nvSpPr>
          <p:cNvPr id="108" name="Text 81"/>
          <p:cNvSpPr/>
          <p:nvPr/>
        </p:nvSpPr>
        <p:spPr>
          <a:xfrm>
            <a:off x="7132320" y="31638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Lot, potency, expiry tracked per test use</a:t>
            </a:r>
            <a:endParaRPr lang="en-US" sz="700" dirty="0"/>
          </a:p>
        </p:txBody>
      </p:sp>
      <p:sp>
        <p:nvSpPr>
          <p:cNvPr id="109" name="Shape 82"/>
          <p:cNvSpPr/>
          <p:nvPr/>
        </p:nvSpPr>
        <p:spPr>
          <a:xfrm>
            <a:off x="4754880" y="3374136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mage 2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3392424"/>
            <a:ext cx="164592" cy="164592"/>
          </a:xfrm>
          <a:prstGeom prst="rect">
            <a:avLst/>
          </a:prstGeom>
        </p:spPr>
      </p:pic>
      <p:sp>
        <p:nvSpPr>
          <p:cNvPr id="111" name="Text 83"/>
          <p:cNvSpPr/>
          <p:nvPr/>
        </p:nvSpPr>
        <p:spPr>
          <a:xfrm>
            <a:off x="4992624" y="3374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ICP-OES heavy metals capture</a:t>
            </a:r>
            <a:endParaRPr lang="en-US" sz="780" dirty="0"/>
          </a:p>
        </p:txBody>
      </p:sp>
      <p:sp>
        <p:nvSpPr>
          <p:cNvPr id="112" name="Text 84"/>
          <p:cNvSpPr/>
          <p:nvPr/>
        </p:nvSpPr>
        <p:spPr>
          <a:xfrm>
            <a:off x="7132320" y="33741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import or manual entry — weekly schedule</a:t>
            </a:r>
            <a:endParaRPr lang="en-US" sz="700" dirty="0"/>
          </a:p>
        </p:txBody>
      </p:sp>
      <p:sp>
        <p:nvSpPr>
          <p:cNvPr id="113" name="Shape 85"/>
          <p:cNvSpPr/>
          <p:nvPr/>
        </p:nvSpPr>
        <p:spPr>
          <a:xfrm>
            <a:off x="4754880" y="3584448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mage 26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3602736"/>
            <a:ext cx="164592" cy="164592"/>
          </a:xfrm>
          <a:prstGeom prst="rect">
            <a:avLst/>
          </a:prstGeom>
        </p:spPr>
      </p:pic>
      <p:sp>
        <p:nvSpPr>
          <p:cNvPr id="115" name="Text 86"/>
          <p:cNvSpPr/>
          <p:nvPr/>
        </p:nvSpPr>
        <p:spPr>
          <a:xfrm>
            <a:off x="4992624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spec (in-house + regulatory)</a:t>
            </a:r>
            <a:endParaRPr lang="en-US" sz="780" dirty="0"/>
          </a:p>
        </p:txBody>
      </p:sp>
      <p:sp>
        <p:nvSpPr>
          <p:cNvPr id="116" name="Text 87"/>
          <p:cNvSpPr/>
          <p:nvPr/>
        </p:nvSpPr>
        <p:spPr>
          <a:xfrm>
            <a:off x="7132320" y="3584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shown on form and CoA</a:t>
            </a:r>
            <a:endParaRPr lang="en-US" sz="700" dirty="0"/>
          </a:p>
        </p:txBody>
      </p:sp>
      <p:sp>
        <p:nvSpPr>
          <p:cNvPr id="117" name="Shape 88"/>
          <p:cNvSpPr/>
          <p:nvPr/>
        </p:nvSpPr>
        <p:spPr>
          <a:xfrm>
            <a:off x="4754880" y="3794760"/>
            <a:ext cx="41148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8" name="Image 27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3813048"/>
            <a:ext cx="164592" cy="164592"/>
          </a:xfrm>
          <a:prstGeom prst="rect">
            <a:avLst/>
          </a:prstGeom>
        </p:spPr>
      </p:pic>
      <p:sp>
        <p:nvSpPr>
          <p:cNvPr id="119" name="Text 89"/>
          <p:cNvSpPr/>
          <p:nvPr/>
        </p:nvSpPr>
        <p:spPr>
          <a:xfrm>
            <a:off x="4992624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parameter testing</a:t>
            </a:r>
            <a:endParaRPr lang="en-US" sz="780" dirty="0"/>
          </a:p>
        </p:txBody>
      </p:sp>
      <p:sp>
        <p:nvSpPr>
          <p:cNvPr id="120" name="Text 90"/>
          <p:cNvSpPr/>
          <p:nvPr/>
        </p:nvSpPr>
        <p:spPr>
          <a:xfrm>
            <a:off x="7132320" y="37947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periodic per column</a:t>
            </a:r>
            <a:endParaRPr lang="en-US" sz="700" dirty="0"/>
          </a:p>
        </p:txBody>
      </p:sp>
      <p:sp>
        <p:nvSpPr>
          <p:cNvPr id="121" name="Shape 91"/>
          <p:cNvSpPr/>
          <p:nvPr/>
        </p:nvSpPr>
        <p:spPr>
          <a:xfrm>
            <a:off x="4754880" y="4005072"/>
            <a:ext cx="41148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2" name="Image 28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4023360"/>
            <a:ext cx="164592" cy="164592"/>
          </a:xfrm>
          <a:prstGeom prst="rect">
            <a:avLst/>
          </a:prstGeom>
        </p:spPr>
      </p:pic>
      <p:sp>
        <p:nvSpPr>
          <p:cNvPr id="123" name="Text 92"/>
          <p:cNvSpPr/>
          <p:nvPr/>
        </p:nvSpPr>
        <p:spPr>
          <a:xfrm>
            <a:off x="4992624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/ effluent discharge monitoring</a:t>
            </a:r>
            <a:endParaRPr lang="en-US" sz="780" dirty="0"/>
          </a:p>
        </p:txBody>
      </p:sp>
      <p:sp>
        <p:nvSpPr>
          <p:cNvPr id="124" name="Text 93"/>
          <p:cNvSpPr/>
          <p:nvPr/>
        </p:nvSpPr>
        <p:spPr>
          <a:xfrm>
            <a:off x="7132320" y="4005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as process monitoring — alert thresholds configurable</a:t>
            </a:r>
            <a:endParaRPr lang="en-US" sz="700" dirty="0"/>
          </a:p>
        </p:txBody>
      </p:sp>
      <p:sp>
        <p:nvSpPr>
          <p:cNvPr id="125" name="Shape 94"/>
          <p:cNvSpPr/>
          <p:nvPr/>
        </p:nvSpPr>
        <p:spPr>
          <a:xfrm>
            <a:off x="4754880" y="4215384"/>
            <a:ext cx="41148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6" name="Image 29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4233672"/>
            <a:ext cx="164592" cy="164592"/>
          </a:xfrm>
          <a:prstGeom prst="rect">
            <a:avLst/>
          </a:prstGeom>
        </p:spPr>
      </p:pic>
      <p:sp>
        <p:nvSpPr>
          <p:cNvPr id="127" name="Text 95"/>
          <p:cNvSpPr/>
          <p:nvPr/>
        </p:nvSpPr>
        <p:spPr>
          <a:xfrm>
            <a:off x="4992624" y="4215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/ cooling tower / chiller</a:t>
            </a:r>
            <a:endParaRPr lang="en-US" sz="780" dirty="0"/>
          </a:p>
        </p:txBody>
      </p:sp>
      <p:sp>
        <p:nvSpPr>
          <p:cNvPr id="128" name="Text 96"/>
          <p:cNvSpPr/>
          <p:nvPr/>
        </p:nvSpPr>
        <p:spPr>
          <a:xfrm>
            <a:off x="7132320" y="4215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as utility monitoring checkpoint group</a:t>
            </a:r>
            <a:endParaRPr lang="en-US" sz="700" dirty="0"/>
          </a:p>
        </p:txBody>
      </p:sp>
      <p:sp>
        <p:nvSpPr>
          <p:cNvPr id="129" name="Shape 97"/>
          <p:cNvSpPr/>
          <p:nvPr/>
        </p:nvSpPr>
        <p:spPr>
          <a:xfrm>
            <a:off x="4754880" y="4425696"/>
            <a:ext cx="41148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0" name="Image 3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4443984"/>
            <a:ext cx="164592" cy="164592"/>
          </a:xfrm>
          <a:prstGeom prst="rect">
            <a:avLst/>
          </a:prstGeom>
        </p:spPr>
      </p:pic>
      <p:sp>
        <p:nvSpPr>
          <p:cNvPr id="131" name="Text 98"/>
          <p:cNvSpPr/>
          <p:nvPr/>
        </p:nvSpPr>
        <p:spPr>
          <a:xfrm>
            <a:off x="4992624" y="4425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COA auto-verification</a:t>
            </a:r>
            <a:endParaRPr lang="en-US" sz="780" dirty="0"/>
          </a:p>
        </p:txBody>
      </p:sp>
      <p:sp>
        <p:nvSpPr>
          <p:cNvPr id="132" name="Text 99"/>
          <p:cNvSpPr/>
          <p:nvPr/>
        </p:nvSpPr>
        <p:spPr>
          <a:xfrm>
            <a:off x="7132320" y="44256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+ compare to internal spec — Phase 3</a:t>
            </a:r>
            <a:endParaRPr lang="en-US" sz="700" dirty="0"/>
          </a:p>
        </p:txBody>
      </p:sp>
      <p:sp>
        <p:nvSpPr>
          <p:cNvPr id="133" name="Shape 100"/>
          <p:cNvSpPr/>
          <p:nvPr/>
        </p:nvSpPr>
        <p:spPr>
          <a:xfrm>
            <a:off x="4754880" y="4636008"/>
            <a:ext cx="41148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4" name="Image 3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4654296"/>
            <a:ext cx="164592" cy="164592"/>
          </a:xfrm>
          <a:prstGeom prst="rect">
            <a:avLst/>
          </a:prstGeom>
        </p:spPr>
      </p:pic>
      <p:sp>
        <p:nvSpPr>
          <p:cNvPr id="135" name="Text 101"/>
          <p:cNvSpPr/>
          <p:nvPr/>
        </p:nvSpPr>
        <p:spPr>
          <a:xfrm>
            <a:off x="4992624" y="4636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process control (SPC)</a:t>
            </a:r>
            <a:endParaRPr lang="en-US" sz="780" dirty="0"/>
          </a:p>
        </p:txBody>
      </p:sp>
      <p:sp>
        <p:nvSpPr>
          <p:cNvPr id="136" name="Text 102"/>
          <p:cNvSpPr/>
          <p:nvPr/>
        </p:nvSpPr>
        <p:spPr>
          <a:xfrm>
            <a:off x="7132320" y="4636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Cp/Cpk, control charts, OOT predictive — Phase 3</a:t>
            </a:r>
            <a:endParaRPr lang="en-US" sz="700" dirty="0"/>
          </a:p>
        </p:txBody>
      </p:sp>
      <p:sp>
        <p:nvSpPr>
          <p:cNvPr id="137" name="Shape 10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04"/>
          <p:cNvSpPr/>
          <p:nvPr/>
        </p:nvSpPr>
        <p:spPr>
          <a:xfrm>
            <a:off x="365760" y="489204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Fully covered = built and ready to configure  ·  ~ Partial = configurable with current modules but dedicated feature adds value  ·  + Recommended = Phase 2/3 roadmap additions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521241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Workflow Coverage by Industry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LIMS maps to key regulations and workflows for each industry segment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7472" y="1033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(API / Formulation / QC Lab)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408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Regulations: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1609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211 (cGMP)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423160" y="1609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CFR Part 11 (Electronic Records)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65760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GMP Annex 11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423160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ICH Q1A (Stability)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6576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ICH Q2(R1) (Method Validation)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42316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ICH Q6A/B (Specifications)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65760" y="2212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FDA OOS Guidance 2006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423160" y="2212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ALCOA+ (FDA/MHRA/WHO)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6576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Covered: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2651760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4048" y="265176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Raw material testing (identity, purity, potency)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" y="2825496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84048" y="282549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In-process controls (IPC) during manufacturing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65760" y="2999232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84048" y="299923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Finished product release testing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65760" y="3172968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84048" y="317296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Stability studies — accelerated + long-term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65760" y="3346704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" y="334670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Retain sample management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65760" y="3520440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84048" y="352044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CoA generation and customer distribution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65760" y="3694176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84048" y="36941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OOS/OOT investigation and CAPA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65760" y="3867912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386791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Batch record and traceability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65760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Additions: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65760" y="42428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Method validation lifecycle (ELN)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" y="440740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Environmental monitoring (dedicated module)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65760" y="45720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Cleaning validation records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" y="473659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Bioburden / microbiology workflow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709160" y="987552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709160" y="987552"/>
            <a:ext cx="416052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2312" y="1033272"/>
            <a:ext cx="219456" cy="219456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05663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Manufacturing (Batch / Continuous Process)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800600" y="1408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Regulations: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4800600" y="1609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17025 (Lab Competence)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6858000" y="1609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 / RoHS (substance compliance)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4800600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regulatory standards (MS, SIRIM etc.)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6858000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GHS / SDS documentation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480060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safety standards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85800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 discharge regulations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4800600" y="2212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CoA requirements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6858000" y="2212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quality management (ISO 9001)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480060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Covered: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4800600" y="2651760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4818888" y="265176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Incoming raw material inspection (supplier CoA)</a:t>
            </a:r>
            <a:endParaRPr lang="en-US" sz="750" dirty="0"/>
          </a:p>
        </p:txBody>
      </p:sp>
      <p:sp>
        <p:nvSpPr>
          <p:cNvPr id="56" name="Shape 52"/>
          <p:cNvSpPr/>
          <p:nvPr/>
        </p:nvSpPr>
        <p:spPr>
          <a:xfrm>
            <a:off x="4800600" y="2825496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4818888" y="282549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In-process monitoring — continuous (shift-based)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800600" y="2999232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4818888" y="299923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Multi-tank / multi-vessel simultaneous testing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4800600" y="3172968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4818888" y="317296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Utility monitoring (water, boiler, cooling, chiller)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4800600" y="3346704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4818888" y="334670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Outgoing product QC before dispatch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800600" y="3520440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4818888" y="352044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Heavy metals (ICP-OES) periodic testing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4800600" y="3694176"/>
            <a:ext cx="395020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4818888" y="36941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SG temperature correction (concentration derivation)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4800600" y="3867912"/>
            <a:ext cx="395020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5"/>
          <p:cNvSpPr/>
          <p:nvPr/>
        </p:nvSpPr>
        <p:spPr>
          <a:xfrm>
            <a:off x="4818888" y="386791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Effluent / discharge quality monitoring</a:t>
            </a:r>
            <a:endParaRPr lang="en-US" sz="750" dirty="0"/>
          </a:p>
        </p:txBody>
      </p:sp>
      <p:sp>
        <p:nvSpPr>
          <p:cNvPr id="70" name="Text 66"/>
          <p:cNvSpPr/>
          <p:nvPr/>
        </p:nvSpPr>
        <p:spPr>
          <a:xfrm>
            <a:off x="4800600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Additions: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4800600" y="42428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Supplier COA auto-verification</a:t>
            </a:r>
            <a:endParaRPr lang="en-US" sz="750" dirty="0"/>
          </a:p>
        </p:txBody>
      </p:sp>
      <p:sp>
        <p:nvSpPr>
          <p:cNvPr id="72" name="Text 68"/>
          <p:cNvSpPr/>
          <p:nvPr/>
        </p:nvSpPr>
        <p:spPr>
          <a:xfrm>
            <a:off x="4800600" y="440740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Statistical process control (SPC / Cp / Cpk)</a:t>
            </a:r>
            <a:endParaRPr lang="en-US" sz="750" dirty="0"/>
          </a:p>
        </p:txBody>
      </p:sp>
      <p:sp>
        <p:nvSpPr>
          <p:cNvPr id="73" name="Text 69"/>
          <p:cNvSpPr/>
          <p:nvPr/>
        </p:nvSpPr>
        <p:spPr>
          <a:xfrm>
            <a:off x="4800600" y="45720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IETS / waste treatment dedicated module</a:t>
            </a:r>
            <a:endParaRPr lang="en-US" sz="750" dirty="0"/>
          </a:p>
        </p:txBody>
      </p:sp>
      <p:sp>
        <p:nvSpPr>
          <p:cNvPr id="74" name="Text 70"/>
          <p:cNvSpPr/>
          <p:nvPr/>
        </p:nvSpPr>
        <p:spPr>
          <a:xfrm>
            <a:off x="4800600" y="473659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Environmental compliance reporting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274320" y="4974336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365760" y="4974336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industries are fully supported by the current LIMS build. Pharma additions (ELN, EM, cleaning validation) address advanced QC lab needs. Chemical additions (SPC, supplier COA auto-verify) address process quality management.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80570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LIMS Works for Both Industries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that make it suitable for pharmaceutical QC labs and chemical manufacturing plants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Test Parameters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tests — add any parameter with unit, formula and spec limit in Master Data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88920" y="1042416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0424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88920" y="12435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assay % · impurity profile · dissolution · content uniformity · pH · conductivity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760720" y="1042416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10424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760720" y="1243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% · SG · purity · heavy metals (ICP-OES) · turbidity · chloride content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664208"/>
            <a:ext cx="64008" cy="60350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1709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Multi-Site, Multi-Lab Architecture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has its own instruments, materials, specs and form templates — independently configurable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88920" y="1700784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1700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88920" y="19019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plant / formulation / QC release labs on separate sites with own specs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760720" y="1700784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17007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760720" y="1901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plant / quality lab / satellite sites with different product lines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322576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322576"/>
            <a:ext cx="64008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Specification Management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spec tier: in-house acceptance + regulatory standard stored side by side, both shown on CoA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88920" y="2359152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88920" y="2359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88920" y="256032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USP/EP/BP compendial specs + in-house limits + customer-specific specs on same parameter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60720" y="2359152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2359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60720" y="2560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spec + MS/ISO/REACH regulatory tier + customer CoA spec — all on one form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980944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2980944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0266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Checkpoint Trigger Modes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3273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trigger modes cover every lab scenario — no scenario requires a workaround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88920" y="3017520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8892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88920" y="321868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IPC checks · scan-triggered per-batch testing · stability time-points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60720" y="3017520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0" y="3017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60720" y="3218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Shift-based process log · tank monitoring daily trigger · dispatch QC on DO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63931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3639312"/>
            <a:ext cx="64008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3685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Stack Built-In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compliance controls (e-sig, audit trail, data integrity) apply to both industries simultaneously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88920" y="3675888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88920" y="3675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88920" y="387705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EU GMP Annex 11 · ICH Q1A · FDA OOS guidance · ALCOA+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60720" y="3675888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60720" y="3675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60720" y="3877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17025 · REACH substance tracking · environmental discharge · ISO 9001 quality records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29768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" y="4297680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11480" y="4343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11480" y="4590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traceability: trace any result upstream to its origin or downstream to its use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88920" y="4334256"/>
            <a:ext cx="6400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88920" y="4334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788920" y="453542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lot → API batch → formulation → CoA → distribution → recall scope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760720" y="4334256"/>
            <a:ext cx="731520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760720" y="4334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760720" y="45354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lot → in-process result → finished product → outgoing CoA → customer delivery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4956048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LIMS configuration handles both industries because all test types, specs, triggers and form templates are data-driven. Switching between pharma and chemical use cases requires only Master Data configuration — no code changes.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5476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10789</Words>
  <Application>Microsoft Office PowerPoint</Application>
  <PresentationFormat>On-screen Show (16:9)</PresentationFormat>
  <Paragraphs>1715</Paragraphs>
  <Slides>50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LIMS — Laboratory Information Management System</dc:title>
  <dc:subject>PptxGenJS Presentation</dc:subject>
  <dc:creator>PptxGenJS</dc:creator>
  <cp:lastModifiedBy>Harish kumar Kethavarapu</cp:lastModifiedBy>
  <cp:revision>1</cp:revision>
  <dcterms:created xsi:type="dcterms:W3CDTF">2026-05-11T06:31:29Z</dcterms:created>
  <dcterms:modified xsi:type="dcterms:W3CDTF">2026-05-12T03:15:05Z</dcterms:modified>
</cp:coreProperties>
</file>