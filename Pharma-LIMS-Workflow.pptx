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E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0"/>
            <a:ext cx="2286000" cy="1280160"/>
          </a:xfrm>
          <a:prstGeom prst="rect">
            <a:avLst/>
          </a:prstGeom>
          <a:solidFill>
            <a:srgbClr val="005F6B"/>
          </a:solidFill>
          <a:ln w="12700">
            <a:solidFill>
              <a:srgbClr val="005F6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98080" y="0"/>
            <a:ext cx="1645920" cy="2011680"/>
          </a:xfrm>
          <a:prstGeom prst="rect">
            <a:avLst/>
          </a:prstGeom>
          <a:solidFill>
            <a:srgbClr val="028090">
              <a:alpha val="60000"/>
            </a:srgbClr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32004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WebSynergies (S) Pte Ltd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11480" y="77724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Pharma-LIMS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411480" y="178308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Workflow Guide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411480" y="2606040"/>
            <a:ext cx="1389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0C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Registration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801368" y="2606040"/>
            <a:ext cx="182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984248" y="2606040"/>
            <a:ext cx="1389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0C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3374136" y="2606040"/>
            <a:ext cx="182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3557016" y="2606040"/>
            <a:ext cx="1389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0C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Review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4946904" y="2606040"/>
            <a:ext cx="182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5129784" y="2606040"/>
            <a:ext cx="1389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0C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 Generation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6519672" y="2606040"/>
            <a:ext cx="182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6702552" y="2606040"/>
            <a:ext cx="1389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0C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Release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8092440" y="2606040"/>
            <a:ext cx="182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8275320" y="2606040"/>
            <a:ext cx="1389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0C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Dispatch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11480" y="3017520"/>
            <a:ext cx="6400800" cy="0"/>
          </a:xfrm>
          <a:prstGeom prst="line">
            <a:avLst/>
          </a:prstGeom>
          <a:noFill/>
          <a:ln w="6350">
            <a:solidFill>
              <a:srgbClr val="02809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1480" y="329184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411480" y="384048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A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Phases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2377440" y="329184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2377440" y="384048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A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Conditions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343400" y="329184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800" dirty="0"/>
          </a:p>
        </p:txBody>
      </p:sp>
      <p:sp>
        <p:nvSpPr>
          <p:cNvPr id="25" name="Text 23"/>
          <p:cNvSpPr/>
          <p:nvPr/>
        </p:nvSpPr>
        <p:spPr>
          <a:xfrm>
            <a:off x="4343400" y="384048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A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Roles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309360" y="329184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CFR</a:t>
            </a:r>
            <a:endParaRPr lang="en-US" sz="2800" dirty="0"/>
          </a:p>
        </p:txBody>
      </p:sp>
      <p:sp>
        <p:nvSpPr>
          <p:cNvPr id="27" name="Text 25"/>
          <p:cNvSpPr/>
          <p:nvPr/>
        </p:nvSpPr>
        <p:spPr>
          <a:xfrm>
            <a:off x="6309360" y="384048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A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11 Compliant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11480" y="4736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A5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|  For Internal Presentation Use Only  |  2026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D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82880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7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OVERVIEW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20040" y="594360"/>
            <a:ext cx="8503920" cy="0"/>
          </a:xfrm>
          <a:prstGeom prst="line">
            <a:avLst/>
          </a:prstGeom>
          <a:noFill/>
          <a:ln w="10160">
            <a:solidFill>
              <a:srgbClr val="E2E8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749808"/>
            <a:ext cx="2651760" cy="162763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749808"/>
            <a:ext cx="2651760" cy="2926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786384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29768" y="109728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7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Registration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29768" y="1463040"/>
            <a:ext cx="24505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Receive, barcode, SRF e-sign, spec &amp; checkpoint assignment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218688" y="749808"/>
            <a:ext cx="2651760" cy="162763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18688" y="749808"/>
            <a:ext cx="2651760" cy="29260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10128" y="786384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328416" y="109728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7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Execution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328416" y="1463040"/>
            <a:ext cx="24505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queue, parameter entry, OOS/OOT auto-detection, logbook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117336" y="749808"/>
            <a:ext cx="2651760" cy="162763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17336" y="749808"/>
            <a:ext cx="2651760" cy="2926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08776" y="786384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227064" y="109728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7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Review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227064" y="1463040"/>
            <a:ext cx="24505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QC verification, digital logbook sign-off, analyst approval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20040" y="2651760"/>
            <a:ext cx="2651760" cy="162763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20040" y="2651760"/>
            <a:ext cx="2651760" cy="292608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1480" y="2688336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29768" y="2999232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7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 Generation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29768" y="3364992"/>
            <a:ext cx="24505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Auto-generate Certificate of Analysis, lock PDF with e-sign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218688" y="2651760"/>
            <a:ext cx="2651760" cy="162763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218688" y="2651760"/>
            <a:ext cx="2651760" cy="292608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310128" y="2688336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328416" y="2999232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7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Review &amp; Release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328416" y="3364992"/>
            <a:ext cx="24505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Checklist, risk score, e-sign decision, batch release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117336" y="2651760"/>
            <a:ext cx="2651760" cy="162763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117336" y="2651760"/>
            <a:ext cx="2651760" cy="29260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208776" y="2688336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227064" y="2999232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7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Dispatch QC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227064" y="3364992"/>
            <a:ext cx="24505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physical inspection, dispatch confirmation, traceability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2990088" y="1563624"/>
            <a:ext cx="210312" cy="0"/>
          </a:xfrm>
          <a:prstGeom prst="line">
            <a:avLst/>
          </a:prstGeom>
          <a:noFill/>
          <a:ln w="19050">
            <a:solidFill>
              <a:srgbClr val="02809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072384" y="1453896"/>
            <a:ext cx="182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5888736" y="1563624"/>
            <a:ext cx="210312" cy="0"/>
          </a:xfrm>
          <a:prstGeom prst="line">
            <a:avLst/>
          </a:prstGeom>
          <a:noFill/>
          <a:ln w="19050">
            <a:solidFill>
              <a:srgbClr val="02809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971032" y="1453896"/>
            <a:ext cx="182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2990088" y="3465576"/>
            <a:ext cx="210312" cy="0"/>
          </a:xfrm>
          <a:prstGeom prst="line">
            <a:avLst/>
          </a:prstGeom>
          <a:noFill/>
          <a:ln w="19050">
            <a:solidFill>
              <a:srgbClr val="02809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072384" y="3355848"/>
            <a:ext cx="182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5888736" y="3465576"/>
            <a:ext cx="210312" cy="0"/>
          </a:xfrm>
          <a:prstGeom prst="line">
            <a:avLst/>
          </a:prstGeom>
          <a:noFill/>
          <a:ln w="19050">
            <a:solidFill>
              <a:srgbClr val="02809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971032" y="3355848"/>
            <a:ext cx="182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7443216" y="2414016"/>
            <a:ext cx="0" cy="201168"/>
          </a:xfrm>
          <a:prstGeom prst="line">
            <a:avLst/>
          </a:prstGeom>
          <a:noFill/>
          <a:ln w="19050">
            <a:solidFill>
              <a:srgbClr val="02809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351776" y="2478024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D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82880"/>
            <a:ext cx="1005840" cy="31089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82880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1435608" y="182880"/>
            <a:ext cx="7406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7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Registration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320040" y="576072"/>
            <a:ext cx="8503920" cy="0"/>
          </a:xfrm>
          <a:prstGeom prst="line">
            <a:avLst/>
          </a:prstGeom>
          <a:noFill/>
          <a:ln w="1016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47472" y="960120"/>
            <a:ext cx="1188720" cy="1051560"/>
          </a:xfrm>
          <a:prstGeom prst="rect">
            <a:avLst/>
          </a:prstGeom>
          <a:solidFill>
            <a:srgbClr val="FFFFFF"/>
          </a:solidFill>
          <a:ln w="19050">
            <a:solidFill>
              <a:srgbClr val="028090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20624" y="1033272"/>
            <a:ext cx="246888" cy="24688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20624" y="1033272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393192" y="1005840"/>
            <a:ext cx="1097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822960" y="1810512"/>
            <a:ext cx="667512" cy="155448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1810512"/>
            <a:ext cx="66751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</a:t>
            </a:r>
            <a:endParaRPr lang="en-US" sz="600" dirty="0"/>
          </a:p>
        </p:txBody>
      </p:sp>
      <p:sp>
        <p:nvSpPr>
          <p:cNvPr id="12" name="Shape 10"/>
          <p:cNvSpPr/>
          <p:nvPr/>
        </p:nvSpPr>
        <p:spPr>
          <a:xfrm>
            <a:off x="1554480" y="1485900"/>
            <a:ext cx="224028" cy="0"/>
          </a:xfrm>
          <a:prstGeom prst="line">
            <a:avLst/>
          </a:prstGeom>
          <a:noFill/>
          <a:ln w="19050">
            <a:solidFill>
              <a:srgbClr val="02809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650492" y="1376172"/>
            <a:ext cx="182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1796796" y="960120"/>
            <a:ext cx="1188720" cy="1051560"/>
          </a:xfrm>
          <a:prstGeom prst="rect">
            <a:avLst/>
          </a:prstGeom>
          <a:solidFill>
            <a:srgbClr val="FFFFFF"/>
          </a:solidFill>
          <a:ln w="19050">
            <a:solidFill>
              <a:srgbClr val="028090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1869948" y="1033272"/>
            <a:ext cx="246888" cy="24688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869948" y="1033272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1842516" y="1005840"/>
            <a:ext cx="1097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Barcode Label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272284" y="1810512"/>
            <a:ext cx="667512" cy="155448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272284" y="1810512"/>
            <a:ext cx="66751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</a:t>
            </a:r>
            <a:endParaRPr lang="en-US" sz="600" dirty="0"/>
          </a:p>
        </p:txBody>
      </p:sp>
      <p:sp>
        <p:nvSpPr>
          <p:cNvPr id="20" name="Shape 18"/>
          <p:cNvSpPr/>
          <p:nvPr/>
        </p:nvSpPr>
        <p:spPr>
          <a:xfrm>
            <a:off x="3003804" y="1485900"/>
            <a:ext cx="224028" cy="0"/>
          </a:xfrm>
          <a:prstGeom prst="line">
            <a:avLst/>
          </a:prstGeom>
          <a:noFill/>
          <a:ln w="19050">
            <a:solidFill>
              <a:srgbClr val="02809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099816" y="1376172"/>
            <a:ext cx="182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246120" y="960120"/>
            <a:ext cx="1188720" cy="1051560"/>
          </a:xfrm>
          <a:prstGeom prst="rect">
            <a:avLst/>
          </a:prstGeom>
          <a:solidFill>
            <a:srgbClr val="FFFBEB"/>
          </a:solidFill>
          <a:ln w="19050">
            <a:solidFill>
              <a:srgbClr val="D97706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319272" y="1033272"/>
            <a:ext cx="246888" cy="246888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319272" y="1033272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3291840" y="1005840"/>
            <a:ext cx="1097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SRF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291840" y="1810512"/>
            <a:ext cx="61813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Gate  ✍ E-Sign</a:t>
            </a:r>
            <a:endParaRPr lang="en-US" sz="650" dirty="0"/>
          </a:p>
        </p:txBody>
      </p:sp>
      <p:sp>
        <p:nvSpPr>
          <p:cNvPr id="27" name="Shape 25"/>
          <p:cNvSpPr/>
          <p:nvPr/>
        </p:nvSpPr>
        <p:spPr>
          <a:xfrm>
            <a:off x="3721608" y="1810512"/>
            <a:ext cx="667512" cy="155448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721608" y="1810512"/>
            <a:ext cx="66751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</a:t>
            </a:r>
            <a:endParaRPr lang="en-US" sz="600" dirty="0"/>
          </a:p>
        </p:txBody>
      </p:sp>
      <p:sp>
        <p:nvSpPr>
          <p:cNvPr id="29" name="Shape 27"/>
          <p:cNvSpPr/>
          <p:nvPr/>
        </p:nvSpPr>
        <p:spPr>
          <a:xfrm>
            <a:off x="4453128" y="1485900"/>
            <a:ext cx="224028" cy="0"/>
          </a:xfrm>
          <a:prstGeom prst="line">
            <a:avLst/>
          </a:prstGeom>
          <a:noFill/>
          <a:ln w="19050">
            <a:solidFill>
              <a:srgbClr val="02809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49140" y="1376172"/>
            <a:ext cx="182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695444" y="960120"/>
            <a:ext cx="1188720" cy="1051560"/>
          </a:xfrm>
          <a:prstGeom prst="rect">
            <a:avLst/>
          </a:prstGeom>
          <a:solidFill>
            <a:srgbClr val="FFFBEB"/>
          </a:solidFill>
          <a:ln w="19050">
            <a:solidFill>
              <a:srgbClr val="D97706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768596" y="1033272"/>
            <a:ext cx="246888" cy="246888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68596" y="1033272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4741164" y="1005840"/>
            <a:ext cx="1097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Spec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741164" y="1810512"/>
            <a:ext cx="61813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Gate</a:t>
            </a:r>
            <a:endParaRPr lang="en-US" sz="650" dirty="0"/>
          </a:p>
        </p:txBody>
      </p:sp>
      <p:sp>
        <p:nvSpPr>
          <p:cNvPr id="36" name="Shape 34"/>
          <p:cNvSpPr/>
          <p:nvPr/>
        </p:nvSpPr>
        <p:spPr>
          <a:xfrm>
            <a:off x="5170932" y="1810512"/>
            <a:ext cx="667512" cy="1554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170932" y="1810512"/>
            <a:ext cx="66751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LabManager</a:t>
            </a:r>
            <a:endParaRPr lang="en-US" sz="600" dirty="0"/>
          </a:p>
        </p:txBody>
      </p:sp>
      <p:sp>
        <p:nvSpPr>
          <p:cNvPr id="38" name="Shape 36"/>
          <p:cNvSpPr/>
          <p:nvPr/>
        </p:nvSpPr>
        <p:spPr>
          <a:xfrm>
            <a:off x="5902452" y="1485900"/>
            <a:ext cx="224028" cy="0"/>
          </a:xfrm>
          <a:prstGeom prst="line">
            <a:avLst/>
          </a:prstGeom>
          <a:noFill/>
          <a:ln w="19050">
            <a:solidFill>
              <a:srgbClr val="02809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998464" y="1376172"/>
            <a:ext cx="182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6144768" y="960120"/>
            <a:ext cx="1188720" cy="1051560"/>
          </a:xfrm>
          <a:prstGeom prst="rect">
            <a:avLst/>
          </a:prstGeom>
          <a:solidFill>
            <a:srgbClr val="FFFFFF"/>
          </a:solidFill>
          <a:ln w="19050">
            <a:solidFill>
              <a:srgbClr val="028090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0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6217920" y="1033272"/>
            <a:ext cx="246888" cy="24688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217920" y="1033272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6190488" y="1005840"/>
            <a:ext cx="1097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Checkpoints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6620256" y="1810512"/>
            <a:ext cx="667512" cy="1554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620256" y="1810512"/>
            <a:ext cx="66751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LabManager</a:t>
            </a:r>
            <a:endParaRPr lang="en-US" sz="600" dirty="0"/>
          </a:p>
        </p:txBody>
      </p:sp>
      <p:sp>
        <p:nvSpPr>
          <p:cNvPr id="46" name="Shape 44"/>
          <p:cNvSpPr/>
          <p:nvPr/>
        </p:nvSpPr>
        <p:spPr>
          <a:xfrm>
            <a:off x="7351776" y="1485900"/>
            <a:ext cx="224028" cy="0"/>
          </a:xfrm>
          <a:prstGeom prst="line">
            <a:avLst/>
          </a:prstGeom>
          <a:noFill/>
          <a:ln w="19050">
            <a:solidFill>
              <a:srgbClr val="02809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447788" y="1376172"/>
            <a:ext cx="182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7594092" y="960120"/>
            <a:ext cx="1188720" cy="1051560"/>
          </a:xfrm>
          <a:prstGeom prst="rect">
            <a:avLst/>
          </a:prstGeom>
          <a:solidFill>
            <a:srgbClr val="F0FDF4"/>
          </a:solidFill>
          <a:ln w="19050">
            <a:solidFill>
              <a:srgbClr val="059669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0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7667244" y="1033272"/>
            <a:ext cx="246888" cy="246888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667244" y="1033272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750" dirty="0"/>
          </a:p>
        </p:txBody>
      </p:sp>
      <p:sp>
        <p:nvSpPr>
          <p:cNvPr id="51" name="Text 49"/>
          <p:cNvSpPr/>
          <p:nvPr/>
        </p:nvSpPr>
        <p:spPr>
          <a:xfrm>
            <a:off x="7639812" y="1005840"/>
            <a:ext cx="1097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✓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8069580" y="1810512"/>
            <a:ext cx="667512" cy="155448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8069580" y="1810512"/>
            <a:ext cx="66751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</a:t>
            </a:r>
            <a:endParaRPr lang="en-US" sz="600" dirty="0"/>
          </a:p>
        </p:txBody>
      </p:sp>
      <p:sp>
        <p:nvSpPr>
          <p:cNvPr id="54" name="Text 52"/>
          <p:cNvSpPr/>
          <p:nvPr/>
        </p:nvSpPr>
        <p:spPr>
          <a:xfrm>
            <a:off x="347472" y="212140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Lot No., MFG/EXP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dates, lab, sample type</a:t>
            </a:r>
            <a:endParaRPr lang="en-US" sz="750" dirty="0"/>
          </a:p>
        </p:txBody>
      </p:sp>
      <p:sp>
        <p:nvSpPr>
          <p:cNvPr id="55" name="Text 53"/>
          <p:cNvSpPr/>
          <p:nvPr/>
        </p:nvSpPr>
        <p:spPr>
          <a:xfrm>
            <a:off x="1796796" y="212140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Auto-generated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barcode + audit log</a:t>
            </a:r>
            <a:endParaRPr lang="en-US" sz="750" dirty="0"/>
          </a:p>
        </p:txBody>
      </p:sp>
      <p:sp>
        <p:nvSpPr>
          <p:cNvPr id="56" name="Text 54"/>
          <p:cNvSpPr/>
          <p:nvPr/>
        </p:nvSpPr>
        <p:spPr>
          <a:xfrm>
            <a:off x="3246120" y="212140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FDA 21 CFR §11.50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e-signature required</a:t>
            </a:r>
            <a:endParaRPr lang="en-US" sz="750" dirty="0"/>
          </a:p>
        </p:txBody>
      </p:sp>
      <p:sp>
        <p:nvSpPr>
          <p:cNvPr id="57" name="Text 55"/>
          <p:cNvSpPr/>
          <p:nvPr/>
        </p:nvSpPr>
        <p:spPr>
          <a:xfrm>
            <a:off x="4695444" y="212140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Auto-matched or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override</a:t>
            </a:r>
            <a:endParaRPr lang="en-US" sz="750" dirty="0"/>
          </a:p>
        </p:txBody>
      </p:sp>
      <p:sp>
        <p:nvSpPr>
          <p:cNvPr id="58" name="Text 56"/>
          <p:cNvSpPr/>
          <p:nvPr/>
        </p:nvSpPr>
        <p:spPr>
          <a:xfrm>
            <a:off x="6144768" y="212140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 to sample type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monitoring</a:t>
            </a:r>
            <a:endParaRPr lang="en-US" sz="750" dirty="0"/>
          </a:p>
        </p:txBody>
      </p:sp>
      <p:sp>
        <p:nvSpPr>
          <p:cNvPr id="59" name="Text 57"/>
          <p:cNvSpPr/>
          <p:nvPr/>
        </p:nvSpPr>
        <p:spPr>
          <a:xfrm>
            <a:off x="7594092" y="212140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for test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</a:t>
            </a:r>
            <a:endParaRPr lang="en-US" sz="750" dirty="0"/>
          </a:p>
        </p:txBody>
      </p:sp>
      <p:sp>
        <p:nvSpPr>
          <p:cNvPr id="60" name="Shape 58"/>
          <p:cNvSpPr/>
          <p:nvPr/>
        </p:nvSpPr>
        <p:spPr>
          <a:xfrm>
            <a:off x="3227832" y="2542032"/>
            <a:ext cx="1225296" cy="237744"/>
          </a:xfrm>
          <a:prstGeom prst="rect">
            <a:avLst/>
          </a:prstGeom>
          <a:solidFill>
            <a:srgbClr val="FFFBEB"/>
          </a:solidFill>
          <a:ln w="9525">
            <a:solidFill>
              <a:srgbClr val="D97706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3246120" y="2560320"/>
            <a:ext cx="26746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Gate: SRFSigned — must sign before spec can be assigned</a:t>
            </a:r>
            <a:endParaRPr lang="en-US" sz="700" dirty="0"/>
          </a:p>
        </p:txBody>
      </p:sp>
      <p:sp>
        <p:nvSpPr>
          <p:cNvPr id="62" name="Shape 60"/>
          <p:cNvSpPr/>
          <p:nvPr/>
        </p:nvSpPr>
        <p:spPr>
          <a:xfrm>
            <a:off x="4677156" y="2834640"/>
            <a:ext cx="1225296" cy="237744"/>
          </a:xfrm>
          <a:prstGeom prst="rect">
            <a:avLst/>
          </a:prstGeom>
          <a:solidFill>
            <a:srgbClr val="FFFBEB"/>
          </a:solidFill>
          <a:ln w="9525">
            <a:solidFill>
              <a:srgbClr val="D97706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4695444" y="2852928"/>
            <a:ext cx="4123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Gate: SpecAssigned — spec must be assigned before testing begins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D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82880"/>
            <a:ext cx="1005840" cy="31089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82880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1435608" y="182880"/>
            <a:ext cx="7406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7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Execution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320040" y="576072"/>
            <a:ext cx="8503920" cy="0"/>
          </a:xfrm>
          <a:prstGeom prst="line">
            <a:avLst/>
          </a:prstGeom>
          <a:noFill/>
          <a:ln w="1016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84048" y="960120"/>
            <a:ext cx="1444752" cy="1097280"/>
          </a:xfrm>
          <a:prstGeom prst="rect">
            <a:avLst/>
          </a:prstGeom>
          <a:solidFill>
            <a:srgbClr val="FFFFFF"/>
          </a:solidFill>
          <a:ln w="19050">
            <a:solidFill>
              <a:srgbClr val="028090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033272"/>
            <a:ext cx="246888" cy="24688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033272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429768" y="1005840"/>
            <a:ext cx="13533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from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Queue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115568" y="1856232"/>
            <a:ext cx="667512" cy="155448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15568" y="1856232"/>
            <a:ext cx="66751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</a:t>
            </a:r>
            <a:endParaRPr lang="en-US" sz="600" dirty="0"/>
          </a:p>
        </p:txBody>
      </p:sp>
      <p:sp>
        <p:nvSpPr>
          <p:cNvPr id="12" name="Shape 10"/>
          <p:cNvSpPr/>
          <p:nvPr/>
        </p:nvSpPr>
        <p:spPr>
          <a:xfrm>
            <a:off x="1847088" y="1508760"/>
            <a:ext cx="283464" cy="0"/>
          </a:xfrm>
          <a:prstGeom prst="line">
            <a:avLst/>
          </a:prstGeom>
          <a:noFill/>
          <a:ln w="19050">
            <a:solidFill>
              <a:srgbClr val="02809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002536" y="1399032"/>
            <a:ext cx="182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148840" y="960120"/>
            <a:ext cx="1444752" cy="1097280"/>
          </a:xfrm>
          <a:prstGeom prst="rect">
            <a:avLst/>
          </a:prstGeom>
          <a:solidFill>
            <a:srgbClr val="FFFBEB"/>
          </a:solidFill>
          <a:ln w="19050">
            <a:solidFill>
              <a:srgbClr val="D97706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221992" y="1033272"/>
            <a:ext cx="246888" cy="246888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221992" y="1033272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2194560" y="1005840"/>
            <a:ext cx="13533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Test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194560" y="1856232"/>
            <a:ext cx="751271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Gate</a:t>
            </a:r>
            <a:endParaRPr lang="en-US" sz="650" dirty="0"/>
          </a:p>
        </p:txBody>
      </p:sp>
      <p:sp>
        <p:nvSpPr>
          <p:cNvPr id="19" name="Shape 17"/>
          <p:cNvSpPr/>
          <p:nvPr/>
        </p:nvSpPr>
        <p:spPr>
          <a:xfrm>
            <a:off x="2880360" y="1856232"/>
            <a:ext cx="667512" cy="155448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880360" y="1856232"/>
            <a:ext cx="66751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</a:t>
            </a:r>
            <a:endParaRPr lang="en-US" sz="600" dirty="0"/>
          </a:p>
        </p:txBody>
      </p:sp>
      <p:sp>
        <p:nvSpPr>
          <p:cNvPr id="21" name="Shape 19"/>
          <p:cNvSpPr/>
          <p:nvPr/>
        </p:nvSpPr>
        <p:spPr>
          <a:xfrm>
            <a:off x="3611880" y="1508760"/>
            <a:ext cx="283464" cy="0"/>
          </a:xfrm>
          <a:prstGeom prst="line">
            <a:avLst/>
          </a:prstGeom>
          <a:noFill/>
          <a:ln w="19050">
            <a:solidFill>
              <a:srgbClr val="02809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767328" y="1399032"/>
            <a:ext cx="182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913632" y="960120"/>
            <a:ext cx="1444752" cy="1097280"/>
          </a:xfrm>
          <a:prstGeom prst="rect">
            <a:avLst/>
          </a:prstGeom>
          <a:solidFill>
            <a:srgbClr val="FFFFFF"/>
          </a:solidFill>
          <a:ln w="19050">
            <a:solidFill>
              <a:srgbClr val="028090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986784" y="1033272"/>
            <a:ext cx="246888" cy="24688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986784" y="1033272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959352" y="1005840"/>
            <a:ext cx="13533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Results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Evidence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645152" y="1856232"/>
            <a:ext cx="667512" cy="155448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645152" y="1856232"/>
            <a:ext cx="66751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</a:t>
            </a:r>
            <a:endParaRPr lang="en-US" sz="600" dirty="0"/>
          </a:p>
        </p:txBody>
      </p:sp>
      <p:sp>
        <p:nvSpPr>
          <p:cNvPr id="29" name="Shape 27"/>
          <p:cNvSpPr/>
          <p:nvPr/>
        </p:nvSpPr>
        <p:spPr>
          <a:xfrm>
            <a:off x="5376672" y="1508760"/>
            <a:ext cx="283464" cy="0"/>
          </a:xfrm>
          <a:prstGeom prst="line">
            <a:avLst/>
          </a:prstGeom>
          <a:noFill/>
          <a:ln w="19050">
            <a:solidFill>
              <a:srgbClr val="02809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532120" y="1399032"/>
            <a:ext cx="182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678424" y="960120"/>
            <a:ext cx="1444752" cy="1097280"/>
          </a:xfrm>
          <a:prstGeom prst="rect">
            <a:avLst/>
          </a:prstGeom>
          <a:solidFill>
            <a:srgbClr val="FFFFFF"/>
          </a:solidFill>
          <a:ln w="19050">
            <a:solidFill>
              <a:srgbClr val="028090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5751576" y="1033272"/>
            <a:ext cx="246888" cy="24688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751576" y="1033272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5724144" y="1005840"/>
            <a:ext cx="13533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OOS/OOT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Auto-Check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6409944" y="1856232"/>
            <a:ext cx="667512" cy="155448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09944" y="1856232"/>
            <a:ext cx="66751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</a:t>
            </a:r>
            <a:endParaRPr lang="en-US" sz="600" dirty="0"/>
          </a:p>
        </p:txBody>
      </p:sp>
      <p:sp>
        <p:nvSpPr>
          <p:cNvPr id="37" name="Shape 35"/>
          <p:cNvSpPr/>
          <p:nvPr/>
        </p:nvSpPr>
        <p:spPr>
          <a:xfrm>
            <a:off x="7141464" y="1508760"/>
            <a:ext cx="283464" cy="0"/>
          </a:xfrm>
          <a:prstGeom prst="line">
            <a:avLst/>
          </a:prstGeom>
          <a:noFill/>
          <a:ln w="19050">
            <a:solidFill>
              <a:srgbClr val="02809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296912" y="1399032"/>
            <a:ext cx="182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7443216" y="960120"/>
            <a:ext cx="1444752" cy="1097280"/>
          </a:xfrm>
          <a:prstGeom prst="rect">
            <a:avLst/>
          </a:prstGeom>
          <a:solidFill>
            <a:srgbClr val="FFFBEB"/>
          </a:solidFill>
          <a:ln w="19050">
            <a:solidFill>
              <a:srgbClr val="D97706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0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7516368" y="1033272"/>
            <a:ext cx="246888" cy="246888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516368" y="1033272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7488936" y="1005840"/>
            <a:ext cx="13533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&amp;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Off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7488936" y="1856232"/>
            <a:ext cx="751271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Gate  ✍ E-Sign</a:t>
            </a:r>
            <a:endParaRPr lang="en-US" sz="650" dirty="0"/>
          </a:p>
        </p:txBody>
      </p:sp>
      <p:sp>
        <p:nvSpPr>
          <p:cNvPr id="44" name="Shape 42"/>
          <p:cNvSpPr/>
          <p:nvPr/>
        </p:nvSpPr>
        <p:spPr>
          <a:xfrm>
            <a:off x="8174736" y="1856232"/>
            <a:ext cx="667512" cy="155448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174736" y="1856232"/>
            <a:ext cx="66751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</a:t>
            </a:r>
            <a:endParaRPr lang="en-US" sz="600" dirty="0"/>
          </a:p>
        </p:txBody>
      </p:sp>
      <p:sp>
        <p:nvSpPr>
          <p:cNvPr id="46" name="Text 44"/>
          <p:cNvSpPr/>
          <p:nvPr/>
        </p:nvSpPr>
        <p:spPr>
          <a:xfrm>
            <a:off x="384048" y="2148840"/>
            <a:ext cx="14447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Priority scoring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Barcode scan assign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Instrument assignment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2148840" y="2148840"/>
            <a:ext cx="14447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Gate: AllTestsComplete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Timer started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Analyst locked in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3913632" y="2148840"/>
            <a:ext cx="14447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20+ parameters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Numeric/pass-fail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Evidence attachments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5678424" y="2148840"/>
            <a:ext cx="14447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Compare vs spec limits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Flag OOS/OOT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Auto-open investigation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7443216" y="2148840"/>
            <a:ext cx="14447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Gate: LogbookSigned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Gate: FormTemplateFilled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E-signature finalises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347472" y="3931920"/>
            <a:ext cx="8503920" cy="384048"/>
          </a:xfrm>
          <a:prstGeom prst="rect">
            <a:avLst/>
          </a:prstGeom>
          <a:solidFill>
            <a:srgbClr val="F5F3FF"/>
          </a:solidFill>
          <a:ln w="9525">
            <a:solidFill>
              <a:srgbClr val="7C3AED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57200" y="3950208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✍  If a Monitoring Form is assigned, it must be submitted (Gate: FormTemplateFilled) before sign-off is permitted.  Suggestions from AI are auto-loaded when the form opens.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D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82880"/>
            <a:ext cx="1005840" cy="31089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82880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1435608" y="182880"/>
            <a:ext cx="7406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7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Review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320040" y="576072"/>
            <a:ext cx="8503920" cy="0"/>
          </a:xfrm>
          <a:prstGeom prst="line">
            <a:avLst/>
          </a:prstGeom>
          <a:noFill/>
          <a:ln w="1016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20624" y="960120"/>
            <a:ext cx="1828800" cy="1097280"/>
          </a:xfrm>
          <a:prstGeom prst="rect">
            <a:avLst/>
          </a:prstGeom>
          <a:solidFill>
            <a:srgbClr val="FFFFFF"/>
          </a:solidFill>
          <a:ln w="19050">
            <a:solidFill>
              <a:srgbClr val="028090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93776" y="1033272"/>
            <a:ext cx="246888" cy="24688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93776" y="1033272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466344" y="100584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 Submits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536192" y="1856232"/>
            <a:ext cx="667512" cy="155448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536192" y="1856232"/>
            <a:ext cx="66751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</a:t>
            </a:r>
            <a:endParaRPr lang="en-US" sz="600" dirty="0"/>
          </a:p>
        </p:txBody>
      </p:sp>
      <p:sp>
        <p:nvSpPr>
          <p:cNvPr id="12" name="Shape 10"/>
          <p:cNvSpPr/>
          <p:nvPr/>
        </p:nvSpPr>
        <p:spPr>
          <a:xfrm>
            <a:off x="2267712" y="1508760"/>
            <a:ext cx="393192" cy="0"/>
          </a:xfrm>
          <a:prstGeom prst="line">
            <a:avLst/>
          </a:prstGeom>
          <a:noFill/>
          <a:ln w="19050">
            <a:solidFill>
              <a:srgbClr val="02809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32888" y="1399032"/>
            <a:ext cx="182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679192" y="960120"/>
            <a:ext cx="1828800" cy="1097280"/>
          </a:xfrm>
          <a:prstGeom prst="rect">
            <a:avLst/>
          </a:prstGeom>
          <a:solidFill>
            <a:srgbClr val="F5F3FF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52344" y="1033272"/>
            <a:ext cx="246888" cy="24688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52344" y="1033272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2724912" y="100584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QC Lead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724912" y="1856232"/>
            <a:ext cx="9509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✍ E-Sign</a:t>
            </a:r>
            <a:endParaRPr lang="en-US" sz="650" dirty="0"/>
          </a:p>
        </p:txBody>
      </p:sp>
      <p:sp>
        <p:nvSpPr>
          <p:cNvPr id="19" name="Shape 17"/>
          <p:cNvSpPr/>
          <p:nvPr/>
        </p:nvSpPr>
        <p:spPr>
          <a:xfrm>
            <a:off x="3794760" y="1856232"/>
            <a:ext cx="667512" cy="15544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794760" y="1856232"/>
            <a:ext cx="66751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</a:t>
            </a:r>
            <a:endParaRPr lang="en-US" sz="600" dirty="0"/>
          </a:p>
        </p:txBody>
      </p:sp>
      <p:sp>
        <p:nvSpPr>
          <p:cNvPr id="21" name="Shape 19"/>
          <p:cNvSpPr/>
          <p:nvPr/>
        </p:nvSpPr>
        <p:spPr>
          <a:xfrm>
            <a:off x="4526280" y="1508760"/>
            <a:ext cx="393192" cy="0"/>
          </a:xfrm>
          <a:prstGeom prst="line">
            <a:avLst/>
          </a:prstGeom>
          <a:noFill/>
          <a:ln w="19050">
            <a:solidFill>
              <a:srgbClr val="02809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91456" y="1399032"/>
            <a:ext cx="182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937760" y="960120"/>
            <a:ext cx="1828800" cy="1097280"/>
          </a:xfrm>
          <a:prstGeom prst="rect">
            <a:avLst/>
          </a:prstGeom>
          <a:solidFill>
            <a:srgbClr val="FFFBEB"/>
          </a:solidFill>
          <a:ln w="19050">
            <a:solidFill>
              <a:srgbClr val="D97706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010912" y="1033272"/>
            <a:ext cx="246888" cy="246888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10912" y="1033272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4983480" y="100584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Digital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Logbook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983480" y="1856232"/>
            <a:ext cx="9509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Gate  ✍ E-Sign</a:t>
            </a:r>
            <a:endParaRPr lang="en-US" sz="650" dirty="0"/>
          </a:p>
        </p:txBody>
      </p:sp>
      <p:sp>
        <p:nvSpPr>
          <p:cNvPr id="28" name="Shape 26"/>
          <p:cNvSpPr/>
          <p:nvPr/>
        </p:nvSpPr>
        <p:spPr>
          <a:xfrm>
            <a:off x="6053328" y="1856232"/>
            <a:ext cx="667512" cy="155448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053328" y="1856232"/>
            <a:ext cx="66751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</a:t>
            </a:r>
            <a:endParaRPr lang="en-US" sz="600" dirty="0"/>
          </a:p>
        </p:txBody>
      </p:sp>
      <p:sp>
        <p:nvSpPr>
          <p:cNvPr id="30" name="Shape 28"/>
          <p:cNvSpPr/>
          <p:nvPr/>
        </p:nvSpPr>
        <p:spPr>
          <a:xfrm>
            <a:off x="6784848" y="1508760"/>
            <a:ext cx="393192" cy="0"/>
          </a:xfrm>
          <a:prstGeom prst="line">
            <a:avLst/>
          </a:prstGeom>
          <a:noFill/>
          <a:ln w="19050">
            <a:solidFill>
              <a:srgbClr val="02809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050024" y="1399032"/>
            <a:ext cx="182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7196328" y="960120"/>
            <a:ext cx="1828800" cy="1097280"/>
          </a:xfrm>
          <a:prstGeom prst="rect">
            <a:avLst/>
          </a:prstGeom>
          <a:solidFill>
            <a:srgbClr val="F0FDF4"/>
          </a:solidFill>
          <a:ln w="19050">
            <a:solidFill>
              <a:srgbClr val="059669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7269480" y="1033272"/>
            <a:ext cx="246888" cy="246888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269480" y="1033272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7242048" y="100584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 ✓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8311896" y="1856232"/>
            <a:ext cx="667512" cy="15544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311896" y="1856232"/>
            <a:ext cx="66751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</a:t>
            </a:r>
            <a:endParaRPr lang="en-US" sz="600" dirty="0"/>
          </a:p>
        </p:txBody>
      </p:sp>
      <p:sp>
        <p:nvSpPr>
          <p:cNvPr id="38" name="Text 36"/>
          <p:cNvSpPr/>
          <p:nvPr/>
        </p:nvSpPr>
        <p:spPr>
          <a:xfrm>
            <a:off x="420624" y="214884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OOS investigation opened if flagged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Gate: NoOpenOOS must pass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All parameters captured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2679192" y="214884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Reviews result accuracy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Checks instrument calibration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QCLeadVerify command records signature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4937760" y="214884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Gate: LogbookSigned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Process log rows must be signed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Audit trail locked in DB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7196328" y="214884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Status → ReviewComplete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Triggers CoA generation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Full traceability chain intact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420624" y="3383280"/>
            <a:ext cx="1828800" cy="685800"/>
          </a:xfrm>
          <a:prstGeom prst="rect">
            <a:avLst/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30352" y="3419856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⛔  If OOS/OOT is flagged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530352" y="365760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OOS Investigation is auto-opened.  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Gate: NoOpenOOS must pass before sign-off is permitted.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4919472" y="3383280"/>
            <a:ext cx="1865376" cy="685800"/>
          </a:xfrm>
          <a:prstGeom prst="rect">
            <a:avLst/>
          </a:prstGeom>
          <a:solidFill>
            <a:srgbClr val="FFFBEB"/>
          </a:solidFill>
          <a:ln w="9525">
            <a:solidFill>
              <a:srgbClr val="D97706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010912" y="3419856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Gate: CheckpointsSigned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5010912" y="3639312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process log rows (checkpoint slots) must have an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electronic signature before the logbook can be closed.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D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82880"/>
            <a:ext cx="1005840" cy="31089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82880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1435608" y="182880"/>
            <a:ext cx="7406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7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 Generation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320040" y="576072"/>
            <a:ext cx="8503920" cy="0"/>
          </a:xfrm>
          <a:prstGeom prst="line">
            <a:avLst/>
          </a:prstGeom>
          <a:noFill/>
          <a:ln w="1016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20624" y="960120"/>
            <a:ext cx="1828800" cy="1097280"/>
          </a:xfrm>
          <a:prstGeom prst="rect">
            <a:avLst/>
          </a:prstGeom>
          <a:solidFill>
            <a:srgbClr val="FFFFFF"/>
          </a:solidFill>
          <a:ln w="19050">
            <a:solidFill>
              <a:srgbClr val="028090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93776" y="1033272"/>
            <a:ext cx="246888" cy="24688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93776" y="1033272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466344" y="100584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Auto-Generate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536192" y="1856232"/>
            <a:ext cx="667512" cy="155448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536192" y="1856232"/>
            <a:ext cx="66751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</a:t>
            </a:r>
            <a:endParaRPr lang="en-US" sz="600" dirty="0"/>
          </a:p>
        </p:txBody>
      </p:sp>
      <p:sp>
        <p:nvSpPr>
          <p:cNvPr id="12" name="Shape 10"/>
          <p:cNvSpPr/>
          <p:nvPr/>
        </p:nvSpPr>
        <p:spPr>
          <a:xfrm>
            <a:off x="2267712" y="1508760"/>
            <a:ext cx="393192" cy="0"/>
          </a:xfrm>
          <a:prstGeom prst="line">
            <a:avLst/>
          </a:prstGeom>
          <a:noFill/>
          <a:ln w="19050">
            <a:solidFill>
              <a:srgbClr val="02809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32888" y="1399032"/>
            <a:ext cx="182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679192" y="960120"/>
            <a:ext cx="1828800" cy="1097280"/>
          </a:xfrm>
          <a:prstGeom prst="rect">
            <a:avLst/>
          </a:prstGeom>
          <a:solidFill>
            <a:srgbClr val="FFFFFF"/>
          </a:solidFill>
          <a:ln w="19050">
            <a:solidFill>
              <a:srgbClr val="028090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52344" y="1033272"/>
            <a:ext cx="246888" cy="24688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52344" y="1033272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2724912" y="100584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CoA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Lines &amp; Results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794760" y="1856232"/>
            <a:ext cx="667512" cy="15544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794760" y="1856232"/>
            <a:ext cx="66751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</a:t>
            </a:r>
            <a:endParaRPr lang="en-US" sz="600" dirty="0"/>
          </a:p>
        </p:txBody>
      </p:sp>
      <p:sp>
        <p:nvSpPr>
          <p:cNvPr id="20" name="Shape 18"/>
          <p:cNvSpPr/>
          <p:nvPr/>
        </p:nvSpPr>
        <p:spPr>
          <a:xfrm>
            <a:off x="4526280" y="1508760"/>
            <a:ext cx="393192" cy="0"/>
          </a:xfrm>
          <a:prstGeom prst="line">
            <a:avLst/>
          </a:prstGeom>
          <a:noFill/>
          <a:ln w="19050">
            <a:solidFill>
              <a:srgbClr val="02809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91456" y="1399032"/>
            <a:ext cx="182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937760" y="960120"/>
            <a:ext cx="1828800" cy="1097280"/>
          </a:xfrm>
          <a:prstGeom prst="rect">
            <a:avLst/>
          </a:prstGeom>
          <a:solidFill>
            <a:srgbClr val="FFFBEB"/>
          </a:solidFill>
          <a:ln w="19050">
            <a:solidFill>
              <a:srgbClr val="D97706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010912" y="1033272"/>
            <a:ext cx="246888" cy="246888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10912" y="1033272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4983480" y="100584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 PDF &amp;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Off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983480" y="1856232"/>
            <a:ext cx="9509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Gate  ✍ E-Sign</a:t>
            </a:r>
            <a:endParaRPr lang="en-US" sz="650" dirty="0"/>
          </a:p>
        </p:txBody>
      </p:sp>
      <p:sp>
        <p:nvSpPr>
          <p:cNvPr id="27" name="Shape 25"/>
          <p:cNvSpPr/>
          <p:nvPr/>
        </p:nvSpPr>
        <p:spPr>
          <a:xfrm>
            <a:off x="6053328" y="1856232"/>
            <a:ext cx="667512" cy="15544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053328" y="1856232"/>
            <a:ext cx="66751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</a:t>
            </a:r>
            <a:endParaRPr lang="en-US" sz="600" dirty="0"/>
          </a:p>
        </p:txBody>
      </p:sp>
      <p:sp>
        <p:nvSpPr>
          <p:cNvPr id="29" name="Shape 27"/>
          <p:cNvSpPr/>
          <p:nvPr/>
        </p:nvSpPr>
        <p:spPr>
          <a:xfrm>
            <a:off x="6784848" y="1508760"/>
            <a:ext cx="393192" cy="0"/>
          </a:xfrm>
          <a:prstGeom prst="line">
            <a:avLst/>
          </a:prstGeom>
          <a:noFill/>
          <a:ln w="19050">
            <a:solidFill>
              <a:srgbClr val="02809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050024" y="1399032"/>
            <a:ext cx="182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7196328" y="960120"/>
            <a:ext cx="1828800" cy="1097280"/>
          </a:xfrm>
          <a:prstGeom prst="rect">
            <a:avLst/>
          </a:prstGeom>
          <a:solidFill>
            <a:srgbClr val="F0FDF4"/>
          </a:solidFill>
          <a:ln w="19050">
            <a:solidFill>
              <a:srgbClr val="059669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7269480" y="1033272"/>
            <a:ext cx="246888" cy="246888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269480" y="1033272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7242048" y="100584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 Issued ✓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8311896" y="1856232"/>
            <a:ext cx="667512" cy="15544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311896" y="1856232"/>
            <a:ext cx="66751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</a:t>
            </a:r>
            <a:endParaRPr lang="en-US" sz="600" dirty="0"/>
          </a:p>
        </p:txBody>
      </p:sp>
      <p:sp>
        <p:nvSpPr>
          <p:cNvPr id="37" name="Text 35"/>
          <p:cNvSpPr/>
          <p:nvPr/>
        </p:nvSpPr>
        <p:spPr>
          <a:xfrm>
            <a:off x="420624" y="214884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Triggered on ReviewComplete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Pulls all passed test parameters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CoA number auto-assigned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2679192" y="214884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10-item QA checklist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Passed items auto-collapsed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Failed items highlighted in red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4937760" y="214884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Gate: CoAApproved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PDF locked server-side atomically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21 CFR 211.194 compliant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7196328" y="214884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CoA status: Released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Triggers batch release workflow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Distributable to customers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420624" y="3383280"/>
            <a:ext cx="8339328" cy="914400"/>
          </a:xfrm>
          <a:prstGeom prst="rect">
            <a:avLst/>
          </a:prstGeom>
          <a:solidFill>
            <a:srgbClr val="FAFAFA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48640" y="3438144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7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10-Item QA Checklist (21 CFR 211.192)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548640" y="3749040"/>
            <a:ext cx="3840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All test executions complete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548640" y="3854196"/>
            <a:ext cx="3840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No open OOS investigations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548640" y="3959352"/>
            <a:ext cx="3840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Logbook fully signed</a:t>
            </a:r>
            <a:endParaRPr lang="en-US" sz="750" dirty="0"/>
          </a:p>
        </p:txBody>
      </p:sp>
      <p:sp>
        <p:nvSpPr>
          <p:cNvPr id="46" name="Text 44"/>
          <p:cNvSpPr/>
          <p:nvPr/>
        </p:nvSpPr>
        <p:spPr>
          <a:xfrm>
            <a:off x="548640" y="4064508"/>
            <a:ext cx="3840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Analyst signatures present</a:t>
            </a:r>
            <a:endParaRPr lang="en-US" sz="750" dirty="0"/>
          </a:p>
        </p:txBody>
      </p:sp>
      <p:sp>
        <p:nvSpPr>
          <p:cNvPr id="47" name="Text 45"/>
          <p:cNvSpPr/>
          <p:nvPr/>
        </p:nvSpPr>
        <p:spPr>
          <a:xfrm>
            <a:off x="548640" y="4169664"/>
            <a:ext cx="3840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Spec version current</a:t>
            </a:r>
            <a:endParaRPr lang="en-US" sz="750" dirty="0"/>
          </a:p>
        </p:txBody>
      </p:sp>
      <p:sp>
        <p:nvSpPr>
          <p:cNvPr id="48" name="Text 46"/>
          <p:cNvSpPr/>
          <p:nvPr/>
        </p:nvSpPr>
        <p:spPr>
          <a:xfrm>
            <a:off x="4663440" y="3749040"/>
            <a:ext cx="3840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Evidence uploaded</a:t>
            </a:r>
            <a:endParaRPr lang="en-US" sz="750" dirty="0"/>
          </a:p>
        </p:txBody>
      </p:sp>
      <p:sp>
        <p:nvSpPr>
          <p:cNvPr id="49" name="Text 47"/>
          <p:cNvSpPr/>
          <p:nvPr/>
        </p:nvSpPr>
        <p:spPr>
          <a:xfrm>
            <a:off x="4663440" y="3854196"/>
            <a:ext cx="3840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OOS waiver (if any)</a:t>
            </a:r>
            <a:endParaRPr lang="en-US" sz="750" dirty="0"/>
          </a:p>
        </p:txBody>
      </p:sp>
      <p:sp>
        <p:nvSpPr>
          <p:cNvPr id="50" name="Text 48"/>
          <p:cNvSpPr/>
          <p:nvPr/>
        </p:nvSpPr>
        <p:spPr>
          <a:xfrm>
            <a:off x="4663440" y="3959352"/>
            <a:ext cx="3840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Instrument calibration valid</a:t>
            </a:r>
            <a:endParaRPr lang="en-US" sz="750" dirty="0"/>
          </a:p>
        </p:txBody>
      </p:sp>
      <p:sp>
        <p:nvSpPr>
          <p:cNvPr id="51" name="Text 49"/>
          <p:cNvSpPr/>
          <p:nvPr/>
        </p:nvSpPr>
        <p:spPr>
          <a:xfrm>
            <a:off x="4663440" y="4064508"/>
            <a:ext cx="3840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Process log complete</a:t>
            </a:r>
            <a:endParaRPr lang="en-US" sz="750" dirty="0"/>
          </a:p>
        </p:txBody>
      </p:sp>
      <p:sp>
        <p:nvSpPr>
          <p:cNvPr id="52" name="Text 50"/>
          <p:cNvSpPr/>
          <p:nvPr/>
        </p:nvSpPr>
        <p:spPr>
          <a:xfrm>
            <a:off x="4663440" y="4169664"/>
            <a:ext cx="3840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QC lead verified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D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82880"/>
            <a:ext cx="1005840" cy="31089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82880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5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1435608" y="182880"/>
            <a:ext cx="7406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7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Review &amp; Batch Release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320040" y="576072"/>
            <a:ext cx="8503920" cy="0"/>
          </a:xfrm>
          <a:prstGeom prst="line">
            <a:avLst/>
          </a:prstGeom>
          <a:noFill/>
          <a:ln w="1016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84048" y="960120"/>
            <a:ext cx="1444752" cy="1097280"/>
          </a:xfrm>
          <a:prstGeom prst="rect">
            <a:avLst/>
          </a:prstGeom>
          <a:solidFill>
            <a:srgbClr val="FFFFFF"/>
          </a:solidFill>
          <a:ln w="19050">
            <a:solidFill>
              <a:srgbClr val="028090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033272"/>
            <a:ext cx="246888" cy="24688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033272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429768" y="1005840"/>
            <a:ext cx="13533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CoA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115568" y="1856232"/>
            <a:ext cx="667512" cy="15544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15568" y="1856232"/>
            <a:ext cx="66751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</a:t>
            </a:r>
            <a:endParaRPr lang="en-US" sz="600" dirty="0"/>
          </a:p>
        </p:txBody>
      </p:sp>
      <p:sp>
        <p:nvSpPr>
          <p:cNvPr id="12" name="Shape 10"/>
          <p:cNvSpPr/>
          <p:nvPr/>
        </p:nvSpPr>
        <p:spPr>
          <a:xfrm>
            <a:off x="1847088" y="1508760"/>
            <a:ext cx="283464" cy="0"/>
          </a:xfrm>
          <a:prstGeom prst="line">
            <a:avLst/>
          </a:prstGeom>
          <a:noFill/>
          <a:ln w="19050">
            <a:solidFill>
              <a:srgbClr val="02809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002536" y="1399032"/>
            <a:ext cx="182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148840" y="960120"/>
            <a:ext cx="1444752" cy="1097280"/>
          </a:xfrm>
          <a:prstGeom prst="rect">
            <a:avLst/>
          </a:prstGeom>
          <a:solidFill>
            <a:srgbClr val="FFFBEB"/>
          </a:solidFill>
          <a:ln w="19050">
            <a:solidFill>
              <a:srgbClr val="D97706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221992" y="1033272"/>
            <a:ext cx="246888" cy="246888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221992" y="1033272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2194560" y="1005840"/>
            <a:ext cx="13533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QA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Checklist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194560" y="1856232"/>
            <a:ext cx="751271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Gate</a:t>
            </a:r>
            <a:endParaRPr lang="en-US" sz="650" dirty="0"/>
          </a:p>
        </p:txBody>
      </p:sp>
      <p:sp>
        <p:nvSpPr>
          <p:cNvPr id="19" name="Shape 17"/>
          <p:cNvSpPr/>
          <p:nvPr/>
        </p:nvSpPr>
        <p:spPr>
          <a:xfrm>
            <a:off x="2880360" y="1856232"/>
            <a:ext cx="667512" cy="15544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880360" y="1856232"/>
            <a:ext cx="66751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</a:t>
            </a:r>
            <a:endParaRPr lang="en-US" sz="600" dirty="0"/>
          </a:p>
        </p:txBody>
      </p:sp>
      <p:sp>
        <p:nvSpPr>
          <p:cNvPr id="21" name="Shape 19"/>
          <p:cNvSpPr/>
          <p:nvPr/>
        </p:nvSpPr>
        <p:spPr>
          <a:xfrm>
            <a:off x="3611880" y="1508760"/>
            <a:ext cx="283464" cy="0"/>
          </a:xfrm>
          <a:prstGeom prst="line">
            <a:avLst/>
          </a:prstGeom>
          <a:noFill/>
          <a:ln w="19050">
            <a:solidFill>
              <a:srgbClr val="02809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767328" y="1399032"/>
            <a:ext cx="182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913632" y="960120"/>
            <a:ext cx="1444752" cy="1097280"/>
          </a:xfrm>
          <a:prstGeom prst="rect">
            <a:avLst/>
          </a:prstGeom>
          <a:solidFill>
            <a:srgbClr val="FFFFFF"/>
          </a:solidFill>
          <a:ln w="19050">
            <a:solidFill>
              <a:srgbClr val="028090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986784" y="1033272"/>
            <a:ext cx="246888" cy="24688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986784" y="1033272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959352" y="1005840"/>
            <a:ext cx="13533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Score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645152" y="1856232"/>
            <a:ext cx="667512" cy="155448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645152" y="1856232"/>
            <a:ext cx="66751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</a:t>
            </a:r>
            <a:endParaRPr lang="en-US" sz="600" dirty="0"/>
          </a:p>
        </p:txBody>
      </p:sp>
      <p:sp>
        <p:nvSpPr>
          <p:cNvPr id="29" name="Shape 27"/>
          <p:cNvSpPr/>
          <p:nvPr/>
        </p:nvSpPr>
        <p:spPr>
          <a:xfrm>
            <a:off x="5376672" y="1508760"/>
            <a:ext cx="283464" cy="0"/>
          </a:xfrm>
          <a:prstGeom prst="line">
            <a:avLst/>
          </a:prstGeom>
          <a:noFill/>
          <a:ln w="19050">
            <a:solidFill>
              <a:srgbClr val="02809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532120" y="1399032"/>
            <a:ext cx="182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678424" y="960120"/>
            <a:ext cx="1444752" cy="1097280"/>
          </a:xfrm>
          <a:prstGeom prst="rect">
            <a:avLst/>
          </a:prstGeom>
          <a:solidFill>
            <a:srgbClr val="F5F3FF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5751576" y="1033272"/>
            <a:ext cx="246888" cy="24688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751576" y="1033272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5724144" y="1005840"/>
            <a:ext cx="13533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5724144" y="1856232"/>
            <a:ext cx="751271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✍ E-Sign</a:t>
            </a:r>
            <a:endParaRPr lang="en-US" sz="650" dirty="0"/>
          </a:p>
        </p:txBody>
      </p:sp>
      <p:sp>
        <p:nvSpPr>
          <p:cNvPr id="36" name="Shape 34"/>
          <p:cNvSpPr/>
          <p:nvPr/>
        </p:nvSpPr>
        <p:spPr>
          <a:xfrm>
            <a:off x="6409944" y="1856232"/>
            <a:ext cx="667512" cy="15544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09944" y="1856232"/>
            <a:ext cx="66751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</a:t>
            </a:r>
            <a:endParaRPr lang="en-US" sz="600" dirty="0"/>
          </a:p>
        </p:txBody>
      </p:sp>
      <p:sp>
        <p:nvSpPr>
          <p:cNvPr id="38" name="Shape 36"/>
          <p:cNvSpPr/>
          <p:nvPr/>
        </p:nvSpPr>
        <p:spPr>
          <a:xfrm>
            <a:off x="7141464" y="1508760"/>
            <a:ext cx="283464" cy="0"/>
          </a:xfrm>
          <a:prstGeom prst="line">
            <a:avLst/>
          </a:prstGeom>
          <a:noFill/>
          <a:ln w="19050">
            <a:solidFill>
              <a:srgbClr val="02809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296912" y="1399032"/>
            <a:ext cx="182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7443216" y="960120"/>
            <a:ext cx="1444752" cy="1097280"/>
          </a:xfrm>
          <a:prstGeom prst="rect">
            <a:avLst/>
          </a:prstGeom>
          <a:solidFill>
            <a:srgbClr val="F0FDF4"/>
          </a:solidFill>
          <a:ln w="19050">
            <a:solidFill>
              <a:srgbClr val="059669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0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7516368" y="1033272"/>
            <a:ext cx="246888" cy="246888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516368" y="1033272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7488936" y="1005840"/>
            <a:ext cx="13533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Released ✓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8174736" y="1856232"/>
            <a:ext cx="667512" cy="1554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174736" y="1856232"/>
            <a:ext cx="66751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LabManager</a:t>
            </a:r>
            <a:endParaRPr lang="en-US" sz="600" dirty="0"/>
          </a:p>
        </p:txBody>
      </p:sp>
      <p:sp>
        <p:nvSpPr>
          <p:cNvPr id="46" name="Text 44"/>
          <p:cNvSpPr/>
          <p:nvPr/>
        </p:nvSpPr>
        <p:spPr>
          <a:xfrm>
            <a:off x="384048" y="2148840"/>
            <a:ext cx="14447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CoA list filtered by status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Click to open review modal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Checklist auto-evaluated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2148840" y="2148840"/>
            <a:ext cx="14447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10 system checks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Passed items collapsed by default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Failures shown immediately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3913632" y="2148840"/>
            <a:ext cx="14447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AI-calculated risk score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Factors: OOS, TAT, complexity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Collapsed by default; expand for detail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5678424" y="2148840"/>
            <a:ext cx="14447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Approve / Conditional / Reject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Justification mandatory if conditional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E-signature locks decision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7443216" y="2148840"/>
            <a:ext cx="14447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Status: Released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Triggers Dispatch QC task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Audit trail complete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384048" y="343814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7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Outcomes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384048" y="3703320"/>
            <a:ext cx="1188720" cy="25603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84048" y="370332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</a:t>
            </a:r>
            <a:endParaRPr lang="en-US" sz="750" dirty="0"/>
          </a:p>
        </p:txBody>
      </p:sp>
      <p:sp>
        <p:nvSpPr>
          <p:cNvPr id="54" name="Text 52"/>
          <p:cNvSpPr/>
          <p:nvPr/>
        </p:nvSpPr>
        <p:spPr>
          <a:xfrm>
            <a:off x="1664208" y="3721608"/>
            <a:ext cx="5943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checks passed — batch released immediately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384048" y="4032504"/>
            <a:ext cx="118872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84048" y="4032504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Conditional Release</a:t>
            </a:r>
            <a:endParaRPr lang="en-US" sz="750" dirty="0"/>
          </a:p>
        </p:txBody>
      </p:sp>
      <p:sp>
        <p:nvSpPr>
          <p:cNvPr id="57" name="Text 55"/>
          <p:cNvSpPr/>
          <p:nvPr/>
        </p:nvSpPr>
        <p:spPr>
          <a:xfrm>
            <a:off x="1664208" y="4050792"/>
            <a:ext cx="5943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Minor failures — QA justification required, batch released with notes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384048" y="4361688"/>
            <a:ext cx="1188720" cy="25603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384048" y="436168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Rejected</a:t>
            </a:r>
            <a:endParaRPr lang="en-US" sz="750" dirty="0"/>
          </a:p>
        </p:txBody>
      </p:sp>
      <p:sp>
        <p:nvSpPr>
          <p:cNvPr id="60" name="Text 58"/>
          <p:cNvSpPr/>
          <p:nvPr/>
        </p:nvSpPr>
        <p:spPr>
          <a:xfrm>
            <a:off x="1664208" y="4379976"/>
            <a:ext cx="5943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failures — batch held, investigation triggered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D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82880"/>
            <a:ext cx="1005840" cy="31089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82880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6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1435608" y="182880"/>
            <a:ext cx="7406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7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Dispatch QC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320040" y="576072"/>
            <a:ext cx="8503920" cy="0"/>
          </a:xfrm>
          <a:prstGeom prst="line">
            <a:avLst/>
          </a:prstGeom>
          <a:noFill/>
          <a:ln w="1016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20624" y="960120"/>
            <a:ext cx="1828800" cy="1097280"/>
          </a:xfrm>
          <a:prstGeom prst="rect">
            <a:avLst/>
          </a:prstGeom>
          <a:solidFill>
            <a:srgbClr val="FFFFFF"/>
          </a:solidFill>
          <a:ln w="19050">
            <a:solidFill>
              <a:srgbClr val="028090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93776" y="1033272"/>
            <a:ext cx="246888" cy="24688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93776" y="1033272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466344" y="100584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Dispatch Task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536192" y="1856232"/>
            <a:ext cx="667512" cy="1554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536192" y="1856232"/>
            <a:ext cx="66751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LabManager</a:t>
            </a:r>
            <a:endParaRPr lang="en-US" sz="600" dirty="0"/>
          </a:p>
        </p:txBody>
      </p:sp>
      <p:sp>
        <p:nvSpPr>
          <p:cNvPr id="12" name="Shape 10"/>
          <p:cNvSpPr/>
          <p:nvPr/>
        </p:nvSpPr>
        <p:spPr>
          <a:xfrm>
            <a:off x="2267712" y="1508760"/>
            <a:ext cx="393192" cy="0"/>
          </a:xfrm>
          <a:prstGeom prst="line">
            <a:avLst/>
          </a:prstGeom>
          <a:noFill/>
          <a:ln w="19050">
            <a:solidFill>
              <a:srgbClr val="02809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32888" y="1399032"/>
            <a:ext cx="182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679192" y="960120"/>
            <a:ext cx="1828800" cy="1097280"/>
          </a:xfrm>
          <a:prstGeom prst="rect">
            <a:avLst/>
          </a:prstGeom>
          <a:solidFill>
            <a:srgbClr val="FFFFFF"/>
          </a:solidFill>
          <a:ln w="19050">
            <a:solidFill>
              <a:srgbClr val="028090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52344" y="1033272"/>
            <a:ext cx="246888" cy="24688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52344" y="1033272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2724912" y="100584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Inspection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794760" y="1856232"/>
            <a:ext cx="667512" cy="155448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794760" y="1856232"/>
            <a:ext cx="66751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</a:t>
            </a:r>
            <a:endParaRPr lang="en-US" sz="600" dirty="0"/>
          </a:p>
        </p:txBody>
      </p:sp>
      <p:sp>
        <p:nvSpPr>
          <p:cNvPr id="20" name="Shape 18"/>
          <p:cNvSpPr/>
          <p:nvPr/>
        </p:nvSpPr>
        <p:spPr>
          <a:xfrm>
            <a:off x="4526280" y="1508760"/>
            <a:ext cx="393192" cy="0"/>
          </a:xfrm>
          <a:prstGeom prst="line">
            <a:avLst/>
          </a:prstGeom>
          <a:noFill/>
          <a:ln w="19050">
            <a:solidFill>
              <a:srgbClr val="02809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91456" y="1399032"/>
            <a:ext cx="182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937760" y="960120"/>
            <a:ext cx="1828800" cy="1097280"/>
          </a:xfrm>
          <a:prstGeom prst="rect">
            <a:avLst/>
          </a:prstGeom>
          <a:solidFill>
            <a:srgbClr val="F5F3FF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010912" y="1033272"/>
            <a:ext cx="246888" cy="24688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10912" y="1033272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4983480" y="100584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Dispatch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983480" y="1856232"/>
            <a:ext cx="9509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✍ E-Sign</a:t>
            </a:r>
            <a:endParaRPr lang="en-US" sz="650" dirty="0"/>
          </a:p>
        </p:txBody>
      </p:sp>
      <p:sp>
        <p:nvSpPr>
          <p:cNvPr id="27" name="Shape 25"/>
          <p:cNvSpPr/>
          <p:nvPr/>
        </p:nvSpPr>
        <p:spPr>
          <a:xfrm>
            <a:off x="6053328" y="1856232"/>
            <a:ext cx="667512" cy="15544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053328" y="1856232"/>
            <a:ext cx="66751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</a:t>
            </a:r>
            <a:endParaRPr lang="en-US" sz="600" dirty="0"/>
          </a:p>
        </p:txBody>
      </p:sp>
      <p:sp>
        <p:nvSpPr>
          <p:cNvPr id="29" name="Shape 27"/>
          <p:cNvSpPr/>
          <p:nvPr/>
        </p:nvSpPr>
        <p:spPr>
          <a:xfrm>
            <a:off x="6784848" y="1508760"/>
            <a:ext cx="393192" cy="0"/>
          </a:xfrm>
          <a:prstGeom prst="line">
            <a:avLst/>
          </a:prstGeom>
          <a:noFill/>
          <a:ln w="19050">
            <a:solidFill>
              <a:srgbClr val="02809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050024" y="1399032"/>
            <a:ext cx="182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7196328" y="960120"/>
            <a:ext cx="1828800" cy="1097280"/>
          </a:xfrm>
          <a:prstGeom prst="rect">
            <a:avLst/>
          </a:prstGeom>
          <a:solidFill>
            <a:srgbClr val="F0FDF4"/>
          </a:solidFill>
          <a:ln w="19050">
            <a:solidFill>
              <a:srgbClr val="059669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7269480" y="1033272"/>
            <a:ext cx="246888" cy="246888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269480" y="1033272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7242048" y="100584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Dispatched ✓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8311896" y="1856232"/>
            <a:ext cx="667512" cy="155448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311896" y="1856232"/>
            <a:ext cx="66751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</a:t>
            </a:r>
            <a:endParaRPr lang="en-US" sz="600" dirty="0"/>
          </a:p>
        </p:txBody>
      </p:sp>
      <p:sp>
        <p:nvSpPr>
          <p:cNvPr id="37" name="Text 35"/>
          <p:cNvSpPr/>
          <p:nvPr/>
        </p:nvSpPr>
        <p:spPr>
          <a:xfrm>
            <a:off x="420624" y="214884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Auto-triggered on batch release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Delivery order linked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Assigned to LabManager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2679192" y="214884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Container condition check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Seal integrity verified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Label cross-check vs CoA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4937760" y="214884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E-signature locks dispatch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Time-stamped audit record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Distribution log created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7196328" y="214884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Full chain of custody logged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Customer delivery record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Sample available for traceability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420624" y="3429000"/>
            <a:ext cx="8339328" cy="1005840"/>
          </a:xfrm>
          <a:prstGeom prst="rect">
            <a:avLst/>
          </a:prstGeom>
          <a:solidFill>
            <a:srgbClr val="F0FDF4"/>
          </a:solidFill>
          <a:ln w="9525">
            <a:solidFill>
              <a:srgbClr val="059669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48640" y="349300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Traceability Chain — Every Step is Linked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548640" y="3813048"/>
            <a:ext cx="80467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Sample → Test Execution → Results → OOS Investigation (if any)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548640" y="3963924"/>
            <a:ext cx="80467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Results → CoA Lines → Certificate of Analysis → QA Approval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548640" y="4114800"/>
            <a:ext cx="80467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CoA → Batch Release Decision → Dispatch QC Task → Delivery Order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548640" y="4265676"/>
            <a:ext cx="80467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Every action stamped with: User  |  Timestamp  |  E-Signature  |  IP Address  |  Role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D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82880"/>
            <a:ext cx="1005840" cy="31089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82880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GATES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1435608" y="182880"/>
            <a:ext cx="7406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7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Conditions — Workflow Enforcement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320040" y="576072"/>
            <a:ext cx="8503920" cy="0"/>
          </a:xfrm>
          <a:prstGeom prst="line">
            <a:avLst/>
          </a:prstGeom>
          <a:noFill/>
          <a:ln w="1016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713232"/>
            <a:ext cx="4069080" cy="80467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713232"/>
            <a:ext cx="566928" cy="80467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8328" y="877824"/>
            <a:ext cx="530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78408" y="768096"/>
            <a:ext cx="3319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7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AllTestsComplete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978408" y="1042416"/>
            <a:ext cx="33192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assigned test executions must reach Completed status before sign-off proceeds.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617720" y="713232"/>
            <a:ext cx="4069080" cy="80467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17720" y="713232"/>
            <a:ext cx="566928" cy="80467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36008" y="877824"/>
            <a:ext cx="530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🔬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276088" y="768096"/>
            <a:ext cx="3319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7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NoOpenOOS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276088" y="1042416"/>
            <a:ext cx="33192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open OOS/OOT investigation must be closed before sign-off is permitted.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20040" y="1581912"/>
            <a:ext cx="4069080" cy="80467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" y="1581912"/>
            <a:ext cx="566928" cy="80467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8328" y="1746504"/>
            <a:ext cx="530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978408" y="1636776"/>
            <a:ext cx="3319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7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LogbookSigned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978408" y="1911096"/>
            <a:ext cx="33192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digital logbook entries must carry an electronic signature.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617720" y="1581912"/>
            <a:ext cx="4069080" cy="80467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617720" y="1581912"/>
            <a:ext cx="566928" cy="80467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36008" y="1746504"/>
            <a:ext cx="530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5276088" y="1636776"/>
            <a:ext cx="3319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7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CoAApproved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5276088" y="1911096"/>
            <a:ext cx="33192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Certificate of Analysis with status Released must exist before batch release.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320040" y="2450592"/>
            <a:ext cx="4069080" cy="80467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20040" y="2450592"/>
            <a:ext cx="566928" cy="80467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38328" y="2615184"/>
            <a:ext cx="530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978408" y="2505456"/>
            <a:ext cx="3319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7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FormTemplateFilled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978408" y="2779776"/>
            <a:ext cx="33192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monitoring form is assigned, it must be submitted via the Form tab in Test Execution.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4617720" y="2450592"/>
            <a:ext cx="4069080" cy="80467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617720" y="2450592"/>
            <a:ext cx="566928" cy="80467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636008" y="2615184"/>
            <a:ext cx="530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5276088" y="2505456"/>
            <a:ext cx="3319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7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CheckpointsSigned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5276088" y="2779776"/>
            <a:ext cx="33192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process log rows (checkpoint monitoring slots) must be electronically signed.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320040" y="3319272"/>
            <a:ext cx="4069080" cy="80467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320040" y="3319272"/>
            <a:ext cx="566928" cy="80467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38328" y="3483864"/>
            <a:ext cx="530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✍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978408" y="3374136"/>
            <a:ext cx="3319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7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SRFSigned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978408" y="3648456"/>
            <a:ext cx="33192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Sample Request Form must carry an e-signature before testing can begin.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617720" y="3319272"/>
            <a:ext cx="4069080" cy="80467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0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4617720" y="3319272"/>
            <a:ext cx="566928" cy="80467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636008" y="3483864"/>
            <a:ext cx="530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📐</a:t>
            </a:r>
            <a:endParaRPr lang="en-US" sz="1800" dirty="0"/>
          </a:p>
        </p:txBody>
      </p:sp>
      <p:sp>
        <p:nvSpPr>
          <p:cNvPr id="44" name="Text 42"/>
          <p:cNvSpPr/>
          <p:nvPr/>
        </p:nvSpPr>
        <p:spPr>
          <a:xfrm>
            <a:off x="5276088" y="3374136"/>
            <a:ext cx="3319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7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SpecAssigned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5276088" y="3648456"/>
            <a:ext cx="33192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Specification Template must be assigned before test parameters are created.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D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82880"/>
            <a:ext cx="1005840" cy="31089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82880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1435608" y="182880"/>
            <a:ext cx="7406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7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&amp; Permissions Matrix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320040" y="576072"/>
            <a:ext cx="8503920" cy="0"/>
          </a:xfrm>
          <a:prstGeom prst="line">
            <a:avLst/>
          </a:prstGeom>
          <a:noFill/>
          <a:ln w="1016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749808"/>
            <a:ext cx="3108960" cy="420624"/>
          </a:xfrm>
          <a:prstGeom prst="rect">
            <a:avLst/>
          </a:prstGeom>
          <a:solidFill>
            <a:srgbClr val="071E2B"/>
          </a:solidFill>
          <a:ln w="12700">
            <a:solidFill>
              <a:srgbClr val="071E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749808"/>
            <a:ext cx="3017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Permission Area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429000" y="749808"/>
            <a:ext cx="1325880" cy="420624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29000" y="749808"/>
            <a:ext cx="1325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754880" y="749808"/>
            <a:ext cx="1325880" cy="42062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0" y="749808"/>
            <a:ext cx="1325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080760" y="749808"/>
            <a:ext cx="1325880" cy="42062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080760" y="749808"/>
            <a:ext cx="1325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LabManager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406640" y="749808"/>
            <a:ext cx="1325880" cy="42062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406640" y="749808"/>
            <a:ext cx="1325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0040" y="1170432"/>
            <a:ext cx="310896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1170432"/>
            <a:ext cx="3017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7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Registration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429000" y="1170432"/>
            <a:ext cx="132588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29000" y="1170432"/>
            <a:ext cx="1325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754880" y="1170432"/>
            <a:ext cx="132588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54880" y="1170432"/>
            <a:ext cx="1325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080760" y="1170432"/>
            <a:ext cx="132588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080760" y="1170432"/>
            <a:ext cx="1325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7406640" y="1170432"/>
            <a:ext cx="132588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406640" y="1170432"/>
            <a:ext cx="1325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320040" y="1591056"/>
            <a:ext cx="3108960" cy="420624"/>
          </a:xfrm>
          <a:prstGeom prst="rect">
            <a:avLst/>
          </a:prstGeom>
          <a:solidFill>
            <a:srgbClr val="F8FE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11480" y="1591056"/>
            <a:ext cx="3017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7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Queue / Testing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429000" y="1591056"/>
            <a:ext cx="1325880" cy="420624"/>
          </a:xfrm>
          <a:prstGeom prst="rect">
            <a:avLst/>
          </a:prstGeom>
          <a:solidFill>
            <a:srgbClr val="F8FE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429000" y="1591056"/>
            <a:ext cx="1325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4754880" y="1591056"/>
            <a:ext cx="1325880" cy="420624"/>
          </a:xfrm>
          <a:prstGeom prst="rect">
            <a:avLst/>
          </a:prstGeom>
          <a:solidFill>
            <a:srgbClr val="F8FE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54880" y="1591056"/>
            <a:ext cx="1325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6080760" y="1591056"/>
            <a:ext cx="1325880" cy="420624"/>
          </a:xfrm>
          <a:prstGeom prst="rect">
            <a:avLst/>
          </a:prstGeom>
          <a:solidFill>
            <a:srgbClr val="F8FE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080760" y="1591056"/>
            <a:ext cx="1325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7406640" y="1591056"/>
            <a:ext cx="1325880" cy="420624"/>
          </a:xfrm>
          <a:prstGeom prst="rect">
            <a:avLst/>
          </a:prstGeom>
          <a:solidFill>
            <a:srgbClr val="F8FE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406640" y="1591056"/>
            <a:ext cx="1325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320040" y="2011680"/>
            <a:ext cx="310896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11480" y="2011680"/>
            <a:ext cx="3017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7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OOS Investigations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3429000" y="2011680"/>
            <a:ext cx="132588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429000" y="2011680"/>
            <a:ext cx="1325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4754880" y="2011680"/>
            <a:ext cx="132588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754880" y="2011680"/>
            <a:ext cx="1325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6080760" y="2011680"/>
            <a:ext cx="132588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080760" y="2011680"/>
            <a:ext cx="1325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7406640" y="2011680"/>
            <a:ext cx="132588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406640" y="2011680"/>
            <a:ext cx="1325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46" name="Shape 44"/>
          <p:cNvSpPr/>
          <p:nvPr/>
        </p:nvSpPr>
        <p:spPr>
          <a:xfrm>
            <a:off x="320040" y="2432304"/>
            <a:ext cx="3108960" cy="420624"/>
          </a:xfrm>
          <a:prstGeom prst="rect">
            <a:avLst/>
          </a:prstGeom>
          <a:solidFill>
            <a:srgbClr val="F8FE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11480" y="2432304"/>
            <a:ext cx="3017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7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Review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3429000" y="2432304"/>
            <a:ext cx="1325880" cy="420624"/>
          </a:xfrm>
          <a:prstGeom prst="rect">
            <a:avLst/>
          </a:prstGeom>
          <a:solidFill>
            <a:srgbClr val="F8FE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429000" y="2432304"/>
            <a:ext cx="1325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50" name="Shape 48"/>
          <p:cNvSpPr/>
          <p:nvPr/>
        </p:nvSpPr>
        <p:spPr>
          <a:xfrm>
            <a:off x="4754880" y="2432304"/>
            <a:ext cx="1325880" cy="420624"/>
          </a:xfrm>
          <a:prstGeom prst="rect">
            <a:avLst/>
          </a:prstGeom>
          <a:solidFill>
            <a:srgbClr val="F8FE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754880" y="2432304"/>
            <a:ext cx="1325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52" name="Shape 50"/>
          <p:cNvSpPr/>
          <p:nvPr/>
        </p:nvSpPr>
        <p:spPr>
          <a:xfrm>
            <a:off x="6080760" y="2432304"/>
            <a:ext cx="1325880" cy="420624"/>
          </a:xfrm>
          <a:prstGeom prst="rect">
            <a:avLst/>
          </a:prstGeom>
          <a:solidFill>
            <a:srgbClr val="F8FE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080760" y="2432304"/>
            <a:ext cx="1325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300" dirty="0"/>
          </a:p>
        </p:txBody>
      </p:sp>
      <p:sp>
        <p:nvSpPr>
          <p:cNvPr id="54" name="Shape 52"/>
          <p:cNvSpPr/>
          <p:nvPr/>
        </p:nvSpPr>
        <p:spPr>
          <a:xfrm>
            <a:off x="7406640" y="2432304"/>
            <a:ext cx="1325880" cy="420624"/>
          </a:xfrm>
          <a:prstGeom prst="rect">
            <a:avLst/>
          </a:prstGeom>
          <a:solidFill>
            <a:srgbClr val="F8FE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406640" y="2432304"/>
            <a:ext cx="1325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56" name="Shape 54"/>
          <p:cNvSpPr/>
          <p:nvPr/>
        </p:nvSpPr>
        <p:spPr>
          <a:xfrm>
            <a:off x="320040" y="2852928"/>
            <a:ext cx="310896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11480" y="2852928"/>
            <a:ext cx="3017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7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 Review &amp; Approval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3429000" y="2852928"/>
            <a:ext cx="132588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3429000" y="2852928"/>
            <a:ext cx="1325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300" dirty="0"/>
          </a:p>
        </p:txBody>
      </p:sp>
      <p:sp>
        <p:nvSpPr>
          <p:cNvPr id="60" name="Shape 58"/>
          <p:cNvSpPr/>
          <p:nvPr/>
        </p:nvSpPr>
        <p:spPr>
          <a:xfrm>
            <a:off x="4754880" y="2852928"/>
            <a:ext cx="132588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754880" y="2852928"/>
            <a:ext cx="1325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62" name="Shape 60"/>
          <p:cNvSpPr/>
          <p:nvPr/>
        </p:nvSpPr>
        <p:spPr>
          <a:xfrm>
            <a:off x="6080760" y="2852928"/>
            <a:ext cx="132588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6080760" y="2852928"/>
            <a:ext cx="1325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300" dirty="0"/>
          </a:p>
        </p:txBody>
      </p:sp>
      <p:sp>
        <p:nvSpPr>
          <p:cNvPr id="64" name="Shape 62"/>
          <p:cNvSpPr/>
          <p:nvPr/>
        </p:nvSpPr>
        <p:spPr>
          <a:xfrm>
            <a:off x="7406640" y="2852928"/>
            <a:ext cx="132588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7406640" y="2852928"/>
            <a:ext cx="1325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66" name="Shape 64"/>
          <p:cNvSpPr/>
          <p:nvPr/>
        </p:nvSpPr>
        <p:spPr>
          <a:xfrm>
            <a:off x="320040" y="3273552"/>
            <a:ext cx="3108960" cy="420624"/>
          </a:xfrm>
          <a:prstGeom prst="rect">
            <a:avLst/>
          </a:prstGeom>
          <a:solidFill>
            <a:srgbClr val="F8FE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411480" y="3273552"/>
            <a:ext cx="3017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7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Release</a:t>
            </a:r>
            <a:endParaRPr lang="en-US" sz="950" dirty="0"/>
          </a:p>
        </p:txBody>
      </p:sp>
      <p:sp>
        <p:nvSpPr>
          <p:cNvPr id="68" name="Shape 66"/>
          <p:cNvSpPr/>
          <p:nvPr/>
        </p:nvSpPr>
        <p:spPr>
          <a:xfrm>
            <a:off x="3429000" y="3273552"/>
            <a:ext cx="1325880" cy="420624"/>
          </a:xfrm>
          <a:prstGeom prst="rect">
            <a:avLst/>
          </a:prstGeom>
          <a:solidFill>
            <a:srgbClr val="F8FE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3429000" y="3273552"/>
            <a:ext cx="1325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300" dirty="0"/>
          </a:p>
        </p:txBody>
      </p:sp>
      <p:sp>
        <p:nvSpPr>
          <p:cNvPr id="70" name="Shape 68"/>
          <p:cNvSpPr/>
          <p:nvPr/>
        </p:nvSpPr>
        <p:spPr>
          <a:xfrm>
            <a:off x="4754880" y="3273552"/>
            <a:ext cx="1325880" cy="420624"/>
          </a:xfrm>
          <a:prstGeom prst="rect">
            <a:avLst/>
          </a:prstGeom>
          <a:solidFill>
            <a:srgbClr val="F8FE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4754880" y="3273552"/>
            <a:ext cx="1325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72" name="Shape 70"/>
          <p:cNvSpPr/>
          <p:nvPr/>
        </p:nvSpPr>
        <p:spPr>
          <a:xfrm>
            <a:off x="6080760" y="3273552"/>
            <a:ext cx="1325880" cy="420624"/>
          </a:xfrm>
          <a:prstGeom prst="rect">
            <a:avLst/>
          </a:prstGeom>
          <a:solidFill>
            <a:srgbClr val="F8FE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6080760" y="3273552"/>
            <a:ext cx="1325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74" name="Shape 72"/>
          <p:cNvSpPr/>
          <p:nvPr/>
        </p:nvSpPr>
        <p:spPr>
          <a:xfrm>
            <a:off x="7406640" y="3273552"/>
            <a:ext cx="1325880" cy="420624"/>
          </a:xfrm>
          <a:prstGeom prst="rect">
            <a:avLst/>
          </a:prstGeom>
          <a:solidFill>
            <a:srgbClr val="F8FE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7406640" y="3273552"/>
            <a:ext cx="1325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76" name="Shape 74"/>
          <p:cNvSpPr/>
          <p:nvPr/>
        </p:nvSpPr>
        <p:spPr>
          <a:xfrm>
            <a:off x="320040" y="3694176"/>
            <a:ext cx="310896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411480" y="3694176"/>
            <a:ext cx="3017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7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Dispatch QC</a:t>
            </a:r>
            <a:endParaRPr lang="en-US" sz="950" dirty="0"/>
          </a:p>
        </p:txBody>
      </p:sp>
      <p:sp>
        <p:nvSpPr>
          <p:cNvPr id="78" name="Shape 76"/>
          <p:cNvSpPr/>
          <p:nvPr/>
        </p:nvSpPr>
        <p:spPr>
          <a:xfrm>
            <a:off x="3429000" y="3694176"/>
            <a:ext cx="132588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3429000" y="3694176"/>
            <a:ext cx="1325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300" dirty="0"/>
          </a:p>
        </p:txBody>
      </p:sp>
      <p:sp>
        <p:nvSpPr>
          <p:cNvPr id="80" name="Shape 78"/>
          <p:cNvSpPr/>
          <p:nvPr/>
        </p:nvSpPr>
        <p:spPr>
          <a:xfrm>
            <a:off x="4754880" y="3694176"/>
            <a:ext cx="132588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4754880" y="3694176"/>
            <a:ext cx="1325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82" name="Shape 80"/>
          <p:cNvSpPr/>
          <p:nvPr/>
        </p:nvSpPr>
        <p:spPr>
          <a:xfrm>
            <a:off x="6080760" y="3694176"/>
            <a:ext cx="132588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6080760" y="3694176"/>
            <a:ext cx="1325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84" name="Shape 82"/>
          <p:cNvSpPr/>
          <p:nvPr/>
        </p:nvSpPr>
        <p:spPr>
          <a:xfrm>
            <a:off x="7406640" y="3694176"/>
            <a:ext cx="132588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7406640" y="3694176"/>
            <a:ext cx="1325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86" name="Shape 84"/>
          <p:cNvSpPr/>
          <p:nvPr/>
        </p:nvSpPr>
        <p:spPr>
          <a:xfrm>
            <a:off x="320040" y="4114800"/>
            <a:ext cx="3108960" cy="420624"/>
          </a:xfrm>
          <a:prstGeom prst="rect">
            <a:avLst/>
          </a:prstGeom>
          <a:solidFill>
            <a:srgbClr val="F8FE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411480" y="4114800"/>
            <a:ext cx="3017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7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Panel</a:t>
            </a:r>
            <a:endParaRPr lang="en-US" sz="950" dirty="0"/>
          </a:p>
        </p:txBody>
      </p:sp>
      <p:sp>
        <p:nvSpPr>
          <p:cNvPr id="88" name="Shape 86"/>
          <p:cNvSpPr/>
          <p:nvPr/>
        </p:nvSpPr>
        <p:spPr>
          <a:xfrm>
            <a:off x="3429000" y="4114800"/>
            <a:ext cx="1325880" cy="420624"/>
          </a:xfrm>
          <a:prstGeom prst="rect">
            <a:avLst/>
          </a:prstGeom>
          <a:solidFill>
            <a:srgbClr val="F8FE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3429000" y="4114800"/>
            <a:ext cx="1325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300" dirty="0"/>
          </a:p>
        </p:txBody>
      </p:sp>
      <p:sp>
        <p:nvSpPr>
          <p:cNvPr id="90" name="Shape 88"/>
          <p:cNvSpPr/>
          <p:nvPr/>
        </p:nvSpPr>
        <p:spPr>
          <a:xfrm>
            <a:off x="4754880" y="4114800"/>
            <a:ext cx="1325880" cy="420624"/>
          </a:xfrm>
          <a:prstGeom prst="rect">
            <a:avLst/>
          </a:prstGeom>
          <a:solidFill>
            <a:srgbClr val="F8FE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4754880" y="4114800"/>
            <a:ext cx="1325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92" name="Shape 90"/>
          <p:cNvSpPr/>
          <p:nvPr/>
        </p:nvSpPr>
        <p:spPr>
          <a:xfrm>
            <a:off x="6080760" y="4114800"/>
            <a:ext cx="1325880" cy="420624"/>
          </a:xfrm>
          <a:prstGeom prst="rect">
            <a:avLst/>
          </a:prstGeom>
          <a:solidFill>
            <a:srgbClr val="F8FE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6080760" y="4114800"/>
            <a:ext cx="1325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94" name="Shape 92"/>
          <p:cNvSpPr/>
          <p:nvPr/>
        </p:nvSpPr>
        <p:spPr>
          <a:xfrm>
            <a:off x="7406640" y="4114800"/>
            <a:ext cx="1325880" cy="420624"/>
          </a:xfrm>
          <a:prstGeom prst="rect">
            <a:avLst/>
          </a:prstGeom>
          <a:solidFill>
            <a:srgbClr val="F8FE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7406640" y="4114800"/>
            <a:ext cx="1325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96" name="Shape 94"/>
          <p:cNvSpPr/>
          <p:nvPr/>
        </p:nvSpPr>
        <p:spPr>
          <a:xfrm>
            <a:off x="320040" y="4535424"/>
            <a:ext cx="310896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411480" y="4535424"/>
            <a:ext cx="3017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7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Data / Settings</a:t>
            </a:r>
            <a:endParaRPr lang="en-US" sz="950" dirty="0"/>
          </a:p>
        </p:txBody>
      </p:sp>
      <p:sp>
        <p:nvSpPr>
          <p:cNvPr id="98" name="Shape 96"/>
          <p:cNvSpPr/>
          <p:nvPr/>
        </p:nvSpPr>
        <p:spPr>
          <a:xfrm>
            <a:off x="3429000" y="4535424"/>
            <a:ext cx="132588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3429000" y="4535424"/>
            <a:ext cx="1325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300" dirty="0"/>
          </a:p>
        </p:txBody>
      </p:sp>
      <p:sp>
        <p:nvSpPr>
          <p:cNvPr id="100" name="Shape 98"/>
          <p:cNvSpPr/>
          <p:nvPr/>
        </p:nvSpPr>
        <p:spPr>
          <a:xfrm>
            <a:off x="4754880" y="4535424"/>
            <a:ext cx="132588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4754880" y="4535424"/>
            <a:ext cx="1325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300" dirty="0"/>
          </a:p>
        </p:txBody>
      </p:sp>
      <p:sp>
        <p:nvSpPr>
          <p:cNvPr id="102" name="Shape 100"/>
          <p:cNvSpPr/>
          <p:nvPr/>
        </p:nvSpPr>
        <p:spPr>
          <a:xfrm>
            <a:off x="6080760" y="4535424"/>
            <a:ext cx="132588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6080760" y="4535424"/>
            <a:ext cx="1325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300" dirty="0"/>
          </a:p>
        </p:txBody>
      </p:sp>
      <p:sp>
        <p:nvSpPr>
          <p:cNvPr id="104" name="Shape 102"/>
          <p:cNvSpPr/>
          <p:nvPr/>
        </p:nvSpPr>
        <p:spPr>
          <a:xfrm>
            <a:off x="7406640" y="4535424"/>
            <a:ext cx="132588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7406640" y="4535424"/>
            <a:ext cx="1325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06" name="Text 104"/>
          <p:cNvSpPr/>
          <p:nvPr/>
        </p:nvSpPr>
        <p:spPr>
          <a:xfrm>
            <a:off x="320040" y="4800600"/>
            <a:ext cx="8503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Admin has full access to all areas.  All roles require an active session with JWT authentication (21 CFR Part 11).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71E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023360"/>
            <a:ext cx="9144000" cy="1120140"/>
          </a:xfrm>
          <a:prstGeom prst="rect">
            <a:avLst/>
          </a:prstGeom>
          <a:solidFill>
            <a:srgbClr val="005F6B"/>
          </a:solidFill>
          <a:ln w="12700">
            <a:solidFill>
              <a:srgbClr val="005F6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400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End-to-End.  Gate-Controlled.  21 CFR Part 11 Compliant.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11480" y="123444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Pharma-LIMS</a:t>
            </a:r>
            <a:endParaRPr lang="en-US" sz="5000" dirty="0"/>
          </a:p>
        </p:txBody>
      </p:sp>
      <p:sp>
        <p:nvSpPr>
          <p:cNvPr id="6" name="Shape 4"/>
          <p:cNvSpPr/>
          <p:nvPr/>
        </p:nvSpPr>
        <p:spPr>
          <a:xfrm>
            <a:off x="411480" y="2331720"/>
            <a:ext cx="1508760" cy="12344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11480" y="2423160"/>
            <a:ext cx="1508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411480" y="301752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0C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Phases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121408" y="2331720"/>
            <a:ext cx="1508760" cy="12344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121408" y="2423160"/>
            <a:ext cx="1508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2121408" y="301752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0C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Conditions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831336" y="2331720"/>
            <a:ext cx="1508760" cy="12344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831336" y="2423160"/>
            <a:ext cx="1508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15+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3831336" y="301752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0C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E-Signature Points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5541264" y="2331720"/>
            <a:ext cx="1508760" cy="12344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541264" y="2423160"/>
            <a:ext cx="1508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5541264" y="301752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0C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Roles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7251192" y="2331720"/>
            <a:ext cx="1508760" cy="12344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7251192" y="2423160"/>
            <a:ext cx="1508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7251192" y="301752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0C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Logged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411480" y="4160520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WebSynergies (S) Pte Ltd  ·  Pharma-LIMS v1.0  ·  2026  ·  Confidential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11480" y="4480560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with: React + TypeScript  |  .NET 8 C#  |  PostgreSQL  |  JWT Auth  |  AI-powered OOS Analysis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Pharma-LIMS End-to-End Workflow</dc:title>
  <dc:subject>PptxGenJS Presentation</dc:subject>
  <dc:creator>WebSynergies (S) Pte Ltd</dc:creator>
  <cp:lastModifiedBy>WebSynergies (S) Pte Ltd</cp:lastModifiedBy>
  <cp:revision>1</cp:revision>
  <dcterms:created xsi:type="dcterms:W3CDTF">2026-06-07T03:17:10Z</dcterms:created>
  <dcterms:modified xsi:type="dcterms:W3CDTF">2026-06-07T03:17:10Z</dcterms:modified>
</cp:coreProperties>
</file>