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46304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WebSynergies (S) Pte Ltd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Pharma-LIMS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— Complete System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417320" y="2423160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68880" y="2423160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1460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OOS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0" y="2423160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23560" y="2423160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2084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26680" y="2423160"/>
            <a:ext cx="73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Admin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640080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632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11480" y="3566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31720" y="30632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331720" y="3566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Phases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51960" y="30632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251960" y="3566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Conditions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72200" y="30632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72200" y="3566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Compliant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Presentation Use Only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9888" y="155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 — At a Glance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49377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436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73152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6858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9784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sample lifecycle from registration to dispatch with full gate enforcement and audit trail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594360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594360"/>
            <a:ext cx="7315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6858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9784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entry, evidence upload, OOS/OOT auto-detection, monitoring forms, sign-off workflow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563624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563624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1655064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Calibration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194767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calibration, calibration logs, RTS (Return to Service), breakdown &amp; repair tracking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563624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563624"/>
            <a:ext cx="73152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655064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Monitoring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194767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Environmental/process parameter monitoring with process log, e-signature, and gate enforcement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532888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532888"/>
            <a:ext cx="73152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62432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" y="29169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KPIs, SPC control charts, TAT breach logs, compliance metrics, multi-site view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532888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532888"/>
            <a:ext cx="73152" cy="8046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62432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Studies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29169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management, pull planning, stability pull tracking, trend analysis, short-pull deviations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502152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502152"/>
            <a:ext cx="73152" cy="804672"/>
          </a:xfrm>
          <a:prstGeom prst="rect">
            <a:avLst/>
          </a:prstGeom>
          <a:solidFill>
            <a:srgbClr val="071E2B"/>
          </a:solidFill>
          <a:ln w="12700">
            <a:solidFill>
              <a:srgbClr val="071E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59359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" y="38862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management, permissions, audit logs, workflow configuration, lab setup &amp; settings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502152"/>
            <a:ext cx="4206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502152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59359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Compliance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38862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 of custody, OOS investigation lifecycle, 21 CFR Part 11 e-signatures, retain samples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9888" y="155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— All 12 Steps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49377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40080"/>
            <a:ext cx="1161288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6949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94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56616" y="676656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152144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15214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1499616" y="982980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9006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82496" y="640080"/>
            <a:ext cx="1161288" cy="685800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46504" y="6949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46504" y="694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719072" y="676656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SRF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85416" y="1152144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115214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1719072" y="1152144"/>
            <a:ext cx="4645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✍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862072" y="982980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35224" y="9006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044952" y="640080"/>
            <a:ext cx="1161288" cy="685800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6949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694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081528" y="676656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Template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47872" y="1152144"/>
            <a:ext cx="612648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115214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3081528" y="1152144"/>
            <a:ext cx="4645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224528" y="982980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9006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407408" y="640080"/>
            <a:ext cx="1161288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71416" y="6949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71416" y="694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443984" y="676656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10328" y="1152144"/>
            <a:ext cx="612648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115214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5586984" y="982980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0136" y="9006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9864" y="640080"/>
            <a:ext cx="1161288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33872" y="6949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694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806440" y="676656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72784" y="1152144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115214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6949440" y="982980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9006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132320" y="640080"/>
            <a:ext cx="1161288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196328" y="6949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96328" y="694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168896" y="676656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Evidence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35240" y="1152144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1152144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320040" y="2395728"/>
            <a:ext cx="1161288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84048" y="245059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56616" y="243230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OOS/OOT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22960" y="2907792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1499616" y="2738628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72768" y="26563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682496" y="2395728"/>
            <a:ext cx="1161288" cy="685800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746504" y="245059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46504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719072" y="243230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185416" y="2907792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85416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1719072" y="2907792"/>
            <a:ext cx="4645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862072" y="2738628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35224" y="26563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044952" y="2395728"/>
            <a:ext cx="1161288" cy="685800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108960" y="245059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8960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081528" y="243230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Logbook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547872" y="2907792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47872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3081528" y="2907792"/>
            <a:ext cx="4645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✍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224528" y="2738628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97680" y="26563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407408" y="2395728"/>
            <a:ext cx="1161288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471416" y="245059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71416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4443984" y="243230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910328" y="2907792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10328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86" name="Shape 84"/>
          <p:cNvSpPr/>
          <p:nvPr/>
        </p:nvSpPr>
        <p:spPr>
          <a:xfrm>
            <a:off x="5586984" y="2738628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60136" y="26563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769864" y="2395728"/>
            <a:ext cx="1161288" cy="685800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5833872" y="245059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33872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5806440" y="243230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Release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272784" y="2907792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72784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5806440" y="2907792"/>
            <a:ext cx="46451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✍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949440" y="2738628"/>
            <a:ext cx="164592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022592" y="26563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132320" y="2395728"/>
            <a:ext cx="1161288" cy="685800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7196328" y="245059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96328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7168896" y="2432304"/>
            <a:ext cx="10881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✓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635240" y="2907792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635240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8293608" y="982980"/>
            <a:ext cx="109728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366760" y="982980"/>
            <a:ext cx="0" cy="1755648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10312" y="2738628"/>
            <a:ext cx="8156448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10312" y="26563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20040" y="13624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A–F: Registration → Testing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320040" y="3118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G–L: OOS → Review → CoA → Release → Dispatch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20040" y="3749040"/>
            <a:ext cx="201168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66928" y="37490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2286000" y="3749040"/>
            <a:ext cx="201168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32888" y="37490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Condition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4251960" y="3749040"/>
            <a:ext cx="201168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498848" y="37490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6217920" y="3749040"/>
            <a:ext cx="201168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464808" y="37490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9888" y="155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 + Checkpoint Monitoring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49377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66928"/>
            <a:ext cx="8503920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235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56616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57630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7630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1834286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2302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072030" y="868680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36038" y="9235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6038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108606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Label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09621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9621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3586277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4293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824021" y="868680"/>
            <a:ext cx="1495958" cy="71323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88029" y="9235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8029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860597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SRF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1611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1611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860597" y="1408176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✍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338267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6283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576011" y="868680"/>
            <a:ext cx="1495958" cy="71323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40019" y="9235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0019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612587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Spec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13602" y="1408176"/>
            <a:ext cx="612648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3602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5612587" y="1408176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90258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18274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328002" y="868680"/>
            <a:ext cx="1495958" cy="713232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392010" y="92354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92010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364578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165592" y="1408176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65592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320040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No., MFG/EXP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material, lab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072030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barcode 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print log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824021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§11.50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 mandatory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6011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Auto-matched 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328002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auto-created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 template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" y="2423160"/>
            <a:ext cx="8503920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42316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MONITORING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4048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56616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57630" y="3264408"/>
            <a:ext cx="612648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57630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1834286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62302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072030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136038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6038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108606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09621" y="3264408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09621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3586277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14293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824021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888029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88029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860597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661611" y="3264408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1611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5338267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66283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576011" y="2724912"/>
            <a:ext cx="1495958" cy="71323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5640019" y="277977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40019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5612587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 Process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Row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13602" y="3264408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13602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85" name="Text 83"/>
          <p:cNvSpPr/>
          <p:nvPr/>
        </p:nvSpPr>
        <p:spPr>
          <a:xfrm>
            <a:off x="5612587" y="3264408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✍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090258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18274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328002" y="2724912"/>
            <a:ext cx="1495958" cy="713232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7392010" y="277977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92010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7364578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✓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165592" y="3264408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165592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320040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sample type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triggers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2072030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row created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824021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pH,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humidity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576011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CheckpointsSigned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sign-off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7328002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 locked,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20040" y="4160520"/>
            <a:ext cx="8503920" cy="310896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4178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Gates enforced: SRFSigned — SRF must be e-signed before spec assignment  |  SpecAssigned — spec must be assigned before testing begins  |  CheckpointsSigned — all log rows signed before sign-off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3–4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9888" y="155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 + OOS Investigation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49377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66928"/>
            <a:ext cx="850392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EXECUTION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235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56616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57630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7630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1834286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2302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072030" y="868680"/>
            <a:ext cx="1495958" cy="71323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36038" y="9235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6038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108606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09621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9621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108606" y="1408176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586277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4293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24021" y="868680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88029" y="9235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8029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860597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Evidence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1611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1611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5338267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6283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576011" y="868680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40019" y="9235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0019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612587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OOS/OOT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13602" y="1408176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3602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7090258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18274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328002" y="868680"/>
            <a:ext cx="1495958" cy="71323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92010" y="9235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92010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364578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165592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7364578" y="1408176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✍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20040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 assign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072030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AllTestsComplete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starts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824021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parameters,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attachments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6011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vs spec limits,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auto-opens investigation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328002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LogbookSigned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FormTemplateFilled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" y="2423160"/>
            <a:ext cx="850392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42316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/ OOT INVESTIGATION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4048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56616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Flagged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57630" y="3264408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57630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1834286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62302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072030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136038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6038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108606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09621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09621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3586277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14293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824021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888029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88029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860597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661611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1611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5338267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66283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576011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5640019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40019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5612587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13602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13602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7090258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18274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328002" y="2724912"/>
            <a:ext cx="1495958" cy="713232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392010" y="277977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92010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7364578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165592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65592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7364578" y="3264408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320040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outside spec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triggers flag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2072030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OOS Guidance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procedure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824021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auto-loads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on open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576011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recorded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7328002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 locks investigation,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NoOpenOOS clears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20040" y="4160520"/>
            <a:ext cx="8503920" cy="310896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4178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Monitoring Form (if assigned) must be submitted before sign-off — AI suggestions auto-load when the form opens  |  🔒 Gate: NoOpenOOS must pass before logbook can be signed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5–6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9888" y="155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 + CoA Generation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49377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66928"/>
            <a:ext cx="8503920" cy="2468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 &amp; DIGITAL LOGBOOK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235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56616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Results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57630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7630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1834286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2302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072030" y="868680"/>
            <a:ext cx="1495958" cy="713232"/>
          </a:xfrm>
          <a:prstGeom prst="rect">
            <a:avLst/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36038" y="92354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6038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108606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09621" y="1408176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9621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108606" y="1408176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586277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4293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24021" y="868680"/>
            <a:ext cx="1495958" cy="71323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88029" y="9235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8029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860597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Digital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1611" y="140817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1611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3860597" y="1408176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✍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38267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6283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576011" y="868680"/>
            <a:ext cx="1495958" cy="713232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40019" y="92354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0019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612587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✓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13602" y="1408176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3602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7090258" y="1225296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18274" y="1143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328002" y="868680"/>
            <a:ext cx="1495958" cy="713232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392010" y="92354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92010" y="923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364578" y="905256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165592" y="1408176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65592" y="140817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320040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NoOpenOOS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params captured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072030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accuracy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status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824021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LogbookSigned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 complete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6011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ReviewComplete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locked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328002" y="163677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 CoA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in system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" y="2423160"/>
            <a:ext cx="8503920" cy="2468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42316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 (CERTIFICATE OF ANALYSIS)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4048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56616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57630" y="3264408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57630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1834286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62302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072030" y="2724912"/>
            <a:ext cx="1495958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136038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6038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108606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&amp; Results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09621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09621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3586277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14293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824021" y="2724912"/>
            <a:ext cx="1495958" cy="71323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888029" y="277977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88029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860597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10-Item QA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661611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1611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3860597" y="3264408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338267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66283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576011" y="2724912"/>
            <a:ext cx="1495958" cy="713232"/>
          </a:xfrm>
          <a:prstGeom prst="rect">
            <a:avLst/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640019" y="277977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40019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612587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PDF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413602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13602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86" name="Text 84"/>
          <p:cNvSpPr/>
          <p:nvPr/>
        </p:nvSpPr>
        <p:spPr>
          <a:xfrm>
            <a:off x="5612587" y="3264408"/>
            <a:ext cx="59838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090258" y="3081528"/>
            <a:ext cx="219456" cy="0"/>
          </a:xfrm>
          <a:prstGeom prst="line">
            <a:avLst/>
          </a:prstGeom>
          <a:noFill/>
          <a:ln w="13970">
            <a:solidFill>
              <a:srgbClr val="02809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18274" y="29992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328002" y="2724912"/>
            <a:ext cx="1495958" cy="713232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392010" y="277977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92010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7364578" y="2761488"/>
            <a:ext cx="1422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Released ✓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165592" y="3264408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65592" y="326440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320040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all passed test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+ analyst names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2072030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number assigned,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QA review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824021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211.192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auto-evaluated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576011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locked atomically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on e-sig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7328002" y="3493008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Distributable, triggers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workflow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20040" y="4160520"/>
            <a:ext cx="8503920" cy="310896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57200" y="4178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10-item QA checklist: all tests complete, no open OOS, logbook signed, analyst e-sigs, spec version, evidence, instrument calibration valid, process log, QC verified  |  Gate: CoAApproved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7–9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9888" y="155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+ Dispatch + Traceability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49377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66928"/>
            <a:ext cx="2670048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566928"/>
            <a:ext cx="2670048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566928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17336" y="566928"/>
            <a:ext cx="2670048" cy="2468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7336" y="566928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886968"/>
            <a:ext cx="2670048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9418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941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56616" y="92354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31720" y="1371600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371600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1655064" y="1545336"/>
            <a:ext cx="0" cy="109728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91056" y="154533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1655064"/>
            <a:ext cx="2670048" cy="658368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170992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56616" y="169164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Checklist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Score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31720" y="2139696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213969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56616" y="2139696"/>
            <a:ext cx="106801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55064" y="2313432"/>
            <a:ext cx="0" cy="109728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91056" y="23134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0040" y="2423160"/>
            <a:ext cx="2670048" cy="658368"/>
          </a:xfrm>
          <a:prstGeom prst="rect">
            <a:avLst/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247802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478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56616" y="2459736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(Approve/Reject)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31720" y="2907792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356616" y="2907792"/>
            <a:ext cx="106801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655064" y="3081528"/>
            <a:ext cx="0" cy="109728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91056" y="308152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0040" y="3191256"/>
            <a:ext cx="2670048" cy="658368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32461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56616" y="322783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Released ✓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31720" y="3675888"/>
            <a:ext cx="612648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367588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77724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6576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20040" y="3858768"/>
            <a:ext cx="77724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587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20040" y="4059936"/>
            <a:ext cx="77724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0599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218688" y="886968"/>
            <a:ext cx="2670048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82696" y="9418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82696" y="941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255264" y="92354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Task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230368" y="1371600"/>
            <a:ext cx="612648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0368" y="1371600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LabManager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4553712" y="1545336"/>
            <a:ext cx="0" cy="109728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9704" y="154533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218688" y="1655064"/>
            <a:ext cx="2670048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82696" y="170992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82696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255264" y="169164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230368" y="2139696"/>
            <a:ext cx="612648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0368" y="2139696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4553712" y="2313432"/>
            <a:ext cx="0" cy="109728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89704" y="23134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218688" y="2423160"/>
            <a:ext cx="2670048" cy="658368"/>
          </a:xfrm>
          <a:prstGeom prst="rect">
            <a:avLst/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82696" y="247802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82696" y="2478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3255264" y="2459736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230368" y="2907792"/>
            <a:ext cx="61264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30368" y="2907792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3255264" y="2907792"/>
            <a:ext cx="106801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553712" y="3081528"/>
            <a:ext cx="0" cy="109728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9704" y="308152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18688" y="3191256"/>
            <a:ext cx="2670048" cy="658368"/>
          </a:xfrm>
          <a:prstGeom prst="rect">
            <a:avLst/>
          </a:prstGeom>
          <a:solidFill>
            <a:srgbClr val="F0FDF4"/>
          </a:solidFill>
          <a:ln w="1651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282696" y="32461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82696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3255264" y="322783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 ✓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230368" y="3675888"/>
            <a:ext cx="612648" cy="137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30368" y="3675888"/>
            <a:ext cx="612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6117336" y="886968"/>
            <a:ext cx="2670048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6208776" y="960120"/>
            <a:ext cx="24871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Sample → Test Execution → Results → OOS Investigation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Results → CoA Lines → Certificate of Analysis → QA Approval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CoA → Batch Release → Dispatch Task → Delivery Order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action: User | Timestamp | E-Signature | IP | Role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Retain Samples — physical samples kept for re-test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Site Transfer — inter-lab sample handoff with COC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Quality Events — deviation &amp; complaint management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21 CFR Part 11 — full electronic record compliance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55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89888" y="155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· Stability · Reporting · Administration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49377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66928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66928"/>
            <a:ext cx="41605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5669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Instruments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877824"/>
            <a:ext cx="3977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register with status tracking (Active/In Calibration/Breakdown)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 schedule &amp; logs — due-date alerts, calibration records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to Service (RTS) workflow with e-signature sign-off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Breakdown &amp; repair tracking — open/close breakdown with impact log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Instrument–Test Method mapping for work queue auto-assignment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Utilisation summary — uptime %, open breakdowns dashboard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566928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566928"/>
            <a:ext cx="416052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5669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Studies &amp; Retention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877824"/>
            <a:ext cx="3977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Stability protocol management — intervals, pull planning calendar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 schedule generation from protocol definition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Stability pull execution &amp; result recording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Short-pull deviation logging with justification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analysis charts — parameter stability over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Retain Samples — physical retain log per sample + location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33472"/>
            <a:ext cx="416052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334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3977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dashboard — TAT, OOS rate, pending tests, compliance 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SPC control charts — UCL/LCL with OOS/OOT flagging (n ≥ 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Multi-site dashboard — cross-lab KPI comparison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panel — validation review logs, audit readiness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Builder — custom report templates with export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Events — track deviations, complaints, CAPAs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2633472"/>
            <a:ext cx="416052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33472"/>
            <a:ext cx="4160520" cy="274320"/>
          </a:xfrm>
          <a:prstGeom prst="rect">
            <a:avLst/>
          </a:prstGeom>
          <a:solidFill>
            <a:srgbClr val="071E2B"/>
          </a:solidFill>
          <a:ln w="12700">
            <a:solidFill>
              <a:srgbClr val="071E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6334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Configuration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944368"/>
            <a:ext cx="3977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management — create, edit, role assignment, lab assignment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permissions — 4 roles: Admin, QA, LabManager, Analyst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configuration — custom multi-step workflows per material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 conditions — 8 enforced gates across the full workflow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data — materials, sample types, test methods, spec limits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&amp; audit management — login logs, idle lock (21 CFR §11.10)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End-to-End.  Gate-Controlled.  21 CFR Part 11 Compliant.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Pharma-LIMS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Covered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150876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21408" y="2423160"/>
            <a:ext cx="150876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21408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21408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31336" y="2423160"/>
            <a:ext cx="150876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31336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41264" y="2423160"/>
            <a:ext cx="150876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41264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41264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51192" y="2423160"/>
            <a:ext cx="150876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51192" y="248716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251192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405993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WebSynergies (S) Pte Ltd  ·  Pharma-LIMS v1.0  ·  2026  ·  Confidential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3708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React + TypeScript  |  .NET 8 C#  |  PostgreSQL  |  JWT Auth  |  AI-powered OOS &amp; Risk Analysis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Pharma-LIMS — All Modules</dc:title>
  <dc:subject>PptxGenJS Presentation</dc:subject>
  <dc:creator>WebSynergies (S) Pte Ltd</dc:creator>
  <cp:lastModifiedBy>WebSynergies (S) Pte Ltd</cp:lastModifiedBy>
  <cp:revision>1</cp:revision>
  <dcterms:created xsi:type="dcterms:W3CDTF">2026-06-07T03:33:13Z</dcterms:created>
  <dcterms:modified xsi:type="dcterms:W3CDTF">2026-06-07T03:33:13Z</dcterms:modified>
</cp:coreProperties>
</file>