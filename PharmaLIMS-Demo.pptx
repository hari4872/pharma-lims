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4041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474720" cy="347472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WebSynergies Digital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8138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LIMSLite</a:t>
            </a:r>
            <a:endParaRPr lang="en-US" sz="8600" dirty="0"/>
          </a:p>
        </p:txBody>
      </p:sp>
      <p:sp>
        <p:nvSpPr>
          <p:cNvPr id="7" name="Text 5"/>
          <p:cNvSpPr/>
          <p:nvPr/>
        </p:nvSpPr>
        <p:spPr>
          <a:xfrm>
            <a:off x="502920" y="2578608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Information Management System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3255264"/>
            <a:ext cx="14630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926080"/>
            <a:ext cx="2926080" cy="292608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labs struggle daily with inefficiency, compliance gaps, and fragmented systems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4069080" cy="1664208"/>
          </a:xfrm>
          <a:prstGeom prst="rect">
            <a:avLst/>
          </a:prstGeom>
          <a:solidFill>
            <a:srgbClr val="0A25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67512" y="1353312"/>
            <a:ext cx="475488" cy="47548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7512" y="1353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52728" y="135331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Records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" y="1792224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binders, logbooks, and handwritten forms create audit nightmares and increase FDA warning letter risk.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4069080" cy="1664208"/>
          </a:xfrm>
          <a:prstGeom prst="rect">
            <a:avLst/>
          </a:prstGeom>
          <a:solidFill>
            <a:srgbClr val="0A25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10912" y="1353312"/>
            <a:ext cx="475488" cy="47548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10912" y="1353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96128" y="135331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Chain of Custody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10912" y="1792224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tracking by spreadsheet means lost materials, misassigned batches, and undetected handling errors.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063240"/>
            <a:ext cx="4069080" cy="1664208"/>
          </a:xfrm>
          <a:prstGeom prst="rect">
            <a:avLst/>
          </a:prstGeom>
          <a:solidFill>
            <a:srgbClr val="0A25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67512" y="3227832"/>
            <a:ext cx="475488" cy="47548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7512" y="3227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52728" y="322783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Risk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" y="3666744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Part 11 and EU Annex 11 demand audit trails, e-signatures, and controlled access — impossible on paper.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3063240"/>
            <a:ext cx="4069080" cy="1664208"/>
          </a:xfrm>
          <a:prstGeom prst="rect">
            <a:avLst/>
          </a:prstGeom>
          <a:solidFill>
            <a:srgbClr val="0A25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10912" y="3227832"/>
            <a:ext cx="475488" cy="47548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10912" y="3227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96128" y="322783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Systems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10912" y="3666744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ERP, QMS, and lab instruments don't talk to each other, forcing rework, data re-entry, and release delays.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LIMSLite Platform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unified, cloud-native LIMS covering every stage of pharmaceutical QC operations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633472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2633472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3533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700784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Management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212848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barcode, lot tracking, status workflow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633472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633472" cy="822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29000" y="13533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1700784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Queue &amp; Assignment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212848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allocation, priority scoring, AI suggestions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1188720"/>
            <a:ext cx="2633472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80760" y="1188720"/>
            <a:ext cx="2633472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13533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1700784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Logbook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2212848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Part 11 e-signatures, INSERT-only audit trail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017520"/>
            <a:ext cx="2633472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2920" y="3017520"/>
            <a:ext cx="2633472" cy="822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31821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" y="3529584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Review &amp; COA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041648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3-stage QC gate, 11-item checklist, auto-generated COA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3017520"/>
            <a:ext cx="2633472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91840" y="3017520"/>
            <a:ext cx="2633472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29000" y="31821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429000" y="3529584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/ CAPA Management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29000" y="4041648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1/2 investigation, corrective action tracking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0760" y="3017520"/>
            <a:ext cx="2633472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80760" y="3017520"/>
            <a:ext cx="2633472" cy="822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17920" y="31821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217920" y="3529584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Release &amp; Dispatch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17920" y="4041648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disposition (Released/Rejected/On Hold), e-sign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sample follows a governed, auditable path from receipt to release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10312" y="1920240"/>
            <a:ext cx="91440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10312" y="1920240"/>
            <a:ext cx="91440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124712" y="2240280"/>
            <a:ext cx="128016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52728" y="2221992"/>
            <a:ext cx="73152" cy="14630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25880" y="1920240"/>
            <a:ext cx="91440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25880" y="1920240"/>
            <a:ext cx="91440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Queue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40280" y="2240280"/>
            <a:ext cx="128016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368296" y="2221992"/>
            <a:ext cx="73152" cy="14630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41448" y="1920240"/>
            <a:ext cx="91440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41448" y="1920240"/>
            <a:ext cx="91440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55848" y="2240280"/>
            <a:ext cx="128016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83864" y="2221992"/>
            <a:ext cx="73152" cy="14630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557016" y="1920240"/>
            <a:ext cx="91440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557016" y="1920240"/>
            <a:ext cx="91440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71416" y="2240280"/>
            <a:ext cx="128016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99432" y="2221992"/>
            <a:ext cx="73152" cy="14630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72584" y="1920240"/>
            <a:ext cx="91440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72584" y="1920240"/>
            <a:ext cx="91440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586984" y="2240280"/>
            <a:ext cx="128016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715000" y="2221992"/>
            <a:ext cx="73152" cy="14630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788152" y="1920240"/>
            <a:ext cx="91440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788152" y="1920240"/>
            <a:ext cx="91440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02552" y="2240280"/>
            <a:ext cx="128016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830568" y="2221992"/>
            <a:ext cx="73152" cy="14630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903720" y="1920240"/>
            <a:ext cx="91440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03720" y="1920240"/>
            <a:ext cx="91440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818120" y="2240280"/>
            <a:ext cx="128016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946136" y="2221992"/>
            <a:ext cx="73152" cy="14630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019288" y="1920240"/>
            <a:ext cx="914400" cy="7498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019288" y="1920240"/>
            <a:ext cx="91440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10312" y="27797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325880" y="27797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441448" y="27797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557016" y="27797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72584" y="27797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788152" y="27797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03720" y="27797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019288" y="27797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02920" y="3246120"/>
            <a:ext cx="265176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02920" y="3246120"/>
            <a:ext cx="64008" cy="1444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67512" y="33101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Traceability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67512" y="3694176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 with timestamp, user, and digital signature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91840" y="3246120"/>
            <a:ext cx="265176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3291840" y="3246120"/>
            <a:ext cx="64008" cy="1444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456432" y="33101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GMP 4-Eyes Principle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3456432" y="3694176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+ QC Lead + QA sign-off required before release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80760" y="3246120"/>
            <a:ext cx="265176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080760" y="3246120"/>
            <a:ext cx="64008" cy="1444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245352" y="33101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COA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6245352" y="3694176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Analysis auto-generated on QC verification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sample lifecycle — from receipt to archive, fully tracked and auditable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48463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8368" y="1380744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3807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61872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&amp; Lot Tracking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61872" y="15910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sample IDs with lot numbers, material codes, and supplier info. Scan or manually enter on receipt.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139696"/>
            <a:ext cx="48463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8368" y="2313432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2313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61872" y="2212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&amp; Specification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61872" y="25237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samples to product specs and acceptance criteria. Flag deviations automatically at entry.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072384"/>
            <a:ext cx="48463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58368" y="324612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" y="3246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61872" y="31455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Workflow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61872" y="34564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→ In Testing → Under Review → Released / Rejected. Status changes are e-signed and timestamped.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005072"/>
            <a:ext cx="48463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8368" y="4178808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8368" y="4178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61872" y="40782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61872" y="4389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prioritization based on stability risk, deadline proximity, and analyst workload.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1207008"/>
            <a:ext cx="3063240" cy="35478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715000" y="133502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Status Lifecycle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35040" y="1755648"/>
            <a:ext cx="214884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35040" y="175564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013448" y="2103120"/>
            <a:ext cx="192024" cy="14630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035040" y="2322576"/>
            <a:ext cx="21488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35040" y="23225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Testing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13448" y="2670048"/>
            <a:ext cx="192024" cy="14630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035040" y="2889504"/>
            <a:ext cx="214884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035040" y="288950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Review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013448" y="3236976"/>
            <a:ext cx="192024" cy="14630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035040" y="3456432"/>
            <a:ext cx="21488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035040" y="345643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013448" y="3803904"/>
            <a:ext cx="192024" cy="14630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035040" y="4023360"/>
            <a:ext cx="214884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035040" y="40233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Logbook &amp; Electronic Signatures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compliant with 21 CFR Part 11 -- every entry is signed, timestamped, and immutable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8229600" cy="1170432"/>
          </a:xfrm>
          <a:prstGeom prst="rect">
            <a:avLst/>
          </a:prstGeom>
          <a:solidFill>
            <a:srgbClr val="0A25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64008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Part 11 Compliance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13232" y="1627632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entries per 21 CFR ss11.50     |     Audit trail: who, what, when -- every action     |     INSERT-only records -- no edits, no deletions     |     Password + meaning-of-signature enforcement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505456"/>
            <a:ext cx="8229600" cy="1170432"/>
          </a:xfrm>
          <a:prstGeom prst="rect">
            <a:avLst/>
          </a:prstGeom>
          <a:solidFill>
            <a:srgbClr val="0A25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2505456"/>
            <a:ext cx="64008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25968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Architecture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3232" y="2926080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append-only log database table     |     Change reason required for every modification     |     Tamper-evident design -- no UPDATE on log rows     |     Exportable for regulatory inspection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803904"/>
            <a:ext cx="8229600" cy="1170432"/>
          </a:xfrm>
          <a:prstGeom prst="rect">
            <a:avLst/>
          </a:prstGeom>
          <a:solidFill>
            <a:srgbClr val="0A25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" y="3803904"/>
            <a:ext cx="64008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38953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&amp; Security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13232" y="4224528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access: Analyst / QC Lead / QA / Admin     |     JWT token authentication with expiry enforcement     |     Failed login tracking and account lockout     |     Session activity logged in audit trail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4709160"/>
            <a:ext cx="1920240" cy="301752"/>
          </a:xfrm>
          <a:prstGeom prst="roundRect">
            <a:avLst>
              <a:gd name="adj" fmla="val 15152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470916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INSERT-Only Records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06040" y="4709160"/>
            <a:ext cx="1920240" cy="301752"/>
          </a:xfrm>
          <a:prstGeom prst="roundRect">
            <a:avLst>
              <a:gd name="adj" fmla="val 15152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06040" y="470916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4709160"/>
            <a:ext cx="1920240" cy="301752"/>
          </a:xfrm>
          <a:prstGeom prst="roundRect">
            <a:avLst>
              <a:gd name="adj" fmla="val 15152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09160" y="470916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Audit Log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12280" y="4709160"/>
            <a:ext cx="1920240" cy="301752"/>
          </a:xfrm>
          <a:prstGeom prst="roundRect">
            <a:avLst>
              <a:gd name="adj" fmla="val 15152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12280" y="470916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Review — 3-Stage QC Gate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GMP 4-eyes principle enforced by the system -- no single person can approve their own results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2633472" cy="35844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2633472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1810512"/>
            <a:ext cx="2359152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81051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Analyst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" y="219456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 algn="l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Verify test method used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7512" y="2194560"/>
            <a:ext cx="54864" cy="402336"/>
          </a:xfrm>
          <a:prstGeom prst="rect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5A8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7512" y="268833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 algn="l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Confirm calculations correct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7512" y="2688336"/>
            <a:ext cx="54864" cy="402336"/>
          </a:xfrm>
          <a:prstGeom prst="rect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5A8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7512" y="318211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 algn="l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Check instrument calibration status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7512" y="3182112"/>
            <a:ext cx="54864" cy="402336"/>
          </a:xfrm>
          <a:prstGeom prst="rect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5A8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7512" y="367588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 algn="l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Flag any anomalies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7512" y="3675888"/>
            <a:ext cx="54864" cy="402336"/>
          </a:xfrm>
          <a:prstGeom prst="rect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5A8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91840" y="1207008"/>
            <a:ext cx="2633472" cy="35844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91840" y="1207008"/>
            <a:ext cx="2633472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91840" y="120700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91840" y="146304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Lead Verify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3429000" y="1810512"/>
            <a:ext cx="2359152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29000" y="181051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Lead / Supervisor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56432" y="219456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 algn="l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Review peer comments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56432" y="2194560"/>
            <a:ext cx="54864" cy="402336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56432" y="268833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 algn="l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Compare to specification limits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56432" y="2688336"/>
            <a:ext cx="54864" cy="402336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56432" y="318211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 algn="l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Confirm OOS/OOT handling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56432" y="3182112"/>
            <a:ext cx="54864" cy="402336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56432" y="367588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 algn="l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Trigger COA generation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456432" y="3675888"/>
            <a:ext cx="54864" cy="402336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080760" y="1207008"/>
            <a:ext cx="2633472" cy="35844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080760" y="1207008"/>
            <a:ext cx="2633472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080760" y="120700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80760" y="146304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Approval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217920" y="1810512"/>
            <a:ext cx="2359152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17920" y="181051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Manager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45352" y="219456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 algn="l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11-item QA checklist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45352" y="2194560"/>
            <a:ext cx="54864" cy="402336"/>
          </a:xfrm>
          <a:prstGeom prst="rect">
            <a:avLst/>
          </a:prstGeom>
          <a:solidFill>
            <a:srgbClr val="F97316">
              <a:alpha val="50000"/>
            </a:srgbClr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245352" y="268833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 algn="l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Conditional release review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45352" y="2688336"/>
            <a:ext cx="54864" cy="402336"/>
          </a:xfrm>
          <a:prstGeom prst="rect">
            <a:avLst/>
          </a:prstGeom>
          <a:solidFill>
            <a:srgbClr val="F97316">
              <a:alpha val="50000"/>
            </a:srgbClr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245352" y="318211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 algn="l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Regulatory compliance check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45352" y="3182112"/>
            <a:ext cx="54864" cy="402336"/>
          </a:xfrm>
          <a:prstGeom prst="rect">
            <a:avLst/>
          </a:prstGeom>
          <a:solidFill>
            <a:srgbClr val="F97316">
              <a:alpha val="50000"/>
            </a:srgbClr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245352" y="367588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 algn="l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Final e-signature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45352" y="3675888"/>
            <a:ext cx="54864" cy="402336"/>
          </a:xfrm>
          <a:prstGeom prst="rect">
            <a:avLst/>
          </a:prstGeom>
          <a:solidFill>
            <a:srgbClr val="F97316">
              <a:alpha val="50000"/>
            </a:srgbClr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0292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who performs the test CANNOT be the same person who approves at any stage -- enforced by system rules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Analysis &amp; Batch Release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COA, 11-item QA checklist, and final QA disposition with e-signature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3977640" cy="36210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35331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Analysis (COA)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37033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" y="1865376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50976" y="184708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on QC Lead Verify action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2340864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50976" y="232257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 batch no, material, test results, specs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281635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50976" y="279806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Analyst, QC Lead, QA e-signatures embedded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329184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50976" y="327355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 with company header / watermark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" y="376732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50976" y="374904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 -- reissue tracked in audit trail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" y="4242816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50976" y="422452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release flag for deviations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1207008"/>
            <a:ext cx="3977640" cy="36210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135331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Release Disposition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800600" y="1719072"/>
            <a:ext cx="370332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00600" y="1874520"/>
            <a:ext cx="86868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00600" y="187452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19293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specs met, QA sign-off complete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2624328"/>
            <a:ext cx="86868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0600" y="2624328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60720" y="26791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investigation or retest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374136"/>
            <a:ext cx="86868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00600" y="3374136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6072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spec, OOS Phase 2 failed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4169664"/>
            <a:ext cx="370332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00600" y="427939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11-Item QA Checklist required before final disposition</a:t>
            </a:r>
            <a:endParaRPr lang="en-US" sz="1000" dirty="0"/>
          </a:p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E-signature mandatory -- stored in audit log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474720"/>
            <a:ext cx="2560320" cy="2560320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/ OOT Investigation &amp; CAPA Management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Phase 1 / Phase 2 investigation workflow aligned with 21 CFR 211.192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6636" y="1207008"/>
            <a:ext cx="1417320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6636" y="1207008"/>
            <a:ext cx="1417320" cy="8046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/ OOT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6636" y="20848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flags spec breach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33956" y="1527048"/>
            <a:ext cx="182880" cy="914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116836" y="1481328"/>
            <a:ext cx="73152" cy="1828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189988" y="1207008"/>
            <a:ext cx="1417320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89988" y="1207008"/>
            <a:ext cx="1417320" cy="8046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Investigation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89988" y="20848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root cause search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07308" y="1527048"/>
            <a:ext cx="182880" cy="914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90188" y="1481328"/>
            <a:ext cx="73152" cy="1828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863340" y="1207008"/>
            <a:ext cx="141732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63340" y="1207008"/>
            <a:ext cx="1417320" cy="8046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Investigation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63340" y="20848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QA-managed deep dive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80660" y="1527048"/>
            <a:ext cx="182880" cy="914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63540" y="1481328"/>
            <a:ext cx="73152" cy="1828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536692" y="1207008"/>
            <a:ext cx="141732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36692" y="1207008"/>
            <a:ext cx="1417320" cy="8046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36692" y="20848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 assigned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54012" y="1527048"/>
            <a:ext cx="182880" cy="914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136892" y="1481328"/>
            <a:ext cx="73152" cy="1828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210044" y="1207008"/>
            <a:ext cx="1417320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10044" y="1207008"/>
            <a:ext cx="1417320" cy="8046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10044" y="20848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 confirmed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" y="2395728"/>
            <a:ext cx="2633472" cy="2331720"/>
          </a:xfrm>
          <a:prstGeom prst="rect">
            <a:avLst/>
          </a:prstGeom>
          <a:solidFill>
            <a:srgbClr val="0A25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2920" y="2395728"/>
            <a:ext cx="263347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7512" y="25237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Investigation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7512" y="2907792"/>
            <a:ext cx="23317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Phase 1 (analyst) and Phase 2 (QA) workflows. Phase 1 can invalidate or escalate. Phase 2 requires full documented root cause.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91840" y="2395728"/>
            <a:ext cx="2633472" cy="2331720"/>
          </a:xfrm>
          <a:prstGeom prst="rect">
            <a:avLst/>
          </a:prstGeom>
          <a:solidFill>
            <a:srgbClr val="0A25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91840" y="2395728"/>
            <a:ext cx="263347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56432" y="25237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 Trending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56432" y="2907792"/>
            <a:ext cx="23317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Out-of-Trend alerts from SPC charts. Proactive quality monitoring before results become OOS. Configurable control limits per product.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080760" y="2395728"/>
            <a:ext cx="2633472" cy="2331720"/>
          </a:xfrm>
          <a:prstGeom prst="rect">
            <a:avLst/>
          </a:prstGeom>
          <a:solidFill>
            <a:srgbClr val="0A25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080760" y="2395728"/>
            <a:ext cx="263347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45352" y="25237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Tracking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45352" y="2907792"/>
            <a:ext cx="23317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corrective/preventive actions with due dates, owners, and evidence attachments. Effectiveness verification closes the loop.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Regulatory Framework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the ground up to satisfy FDA, EU, and GMP requirements without bolt-on workarounds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8229600" cy="3547872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13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LIMSLite Implementation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3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CFR 211.192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controls -- complete investigations for OOS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1/2 OOS workflow, mandatory root cause, QA sign-off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3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CFR 211.194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records -- complete and accurate records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INSERT-only logbook, full test record retention, PDF COA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3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CFR Part 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 records &amp; signatures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auth, e-sig with meaning, audit trail, access controls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13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Annex 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Computerised systems validation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trail, access management, data integrity by design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13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GMP 4-Eyes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self-approval of test results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System-enforced: analyst cannot approve own results at any stage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791456"/>
            <a:ext cx="82296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480974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LIMSLite includes a built-in Compliance Matrix document for regulatory submissions and system validation protocols (IQ/OQ/PQ templates available).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Features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 integration bringing intelligent automation and decision support to QC operations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0" y="228600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0" y="2286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Groq AI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207008"/>
            <a:ext cx="8229600" cy="1115568"/>
          </a:xfrm>
          <a:prstGeom prst="rect">
            <a:avLst/>
          </a:prstGeom>
          <a:solidFill>
            <a:srgbClr val="0A25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1207008"/>
            <a:ext cx="502920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207008"/>
            <a:ext cx="502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70432" y="1298448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Handover Analysis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70432" y="1664208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summarizes open items, pending investigations, and priority samples at shift end. QC Lead receives a structured handover report without manual compilation.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487168"/>
            <a:ext cx="8229600" cy="1115568"/>
          </a:xfrm>
          <a:prstGeom prst="rect">
            <a:avLst/>
          </a:prstGeom>
          <a:solidFill>
            <a:srgbClr val="0A25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920" y="2487168"/>
            <a:ext cx="502920" cy="11155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487168"/>
            <a:ext cx="502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70432" y="2578608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&amp; Prioritization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2944368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assigns a risk score to each sample based on stability profile, material criticality, deadline proximity, and historical OOS rates. Work queue order adapts dynamically.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767328"/>
            <a:ext cx="8229600" cy="1115568"/>
          </a:xfrm>
          <a:prstGeom prst="rect">
            <a:avLst/>
          </a:prstGeom>
          <a:solidFill>
            <a:srgbClr val="0A25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2920" y="3767328"/>
            <a:ext cx="502920" cy="11155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767328"/>
            <a:ext cx="502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70432" y="3858768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Assignment Suggestions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70432" y="4224528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optimal analyst for each test based on expertise, current workload, and certification status. Reduces assignment time and balances utilization across the lab.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1186</Words>
  <Application>Microsoft Office PowerPoint</Application>
  <PresentationFormat>On-screen Show (16:9)</PresentationFormat>
  <Paragraphs>220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LIMSLite - Pharmaceutical LIMS Demo</dc:title>
  <dc:subject>PptxGenJS Presentation</dc:subject>
  <dc:creator>WebSynergies Digital</dc:creator>
  <cp:lastModifiedBy>Harish kumar Kethavarapu</cp:lastModifiedBy>
  <cp:revision>3</cp:revision>
  <dcterms:created xsi:type="dcterms:W3CDTF">2026-06-01T11:58:30Z</dcterms:created>
  <dcterms:modified xsi:type="dcterms:W3CDTF">2026-06-01T12:08:44Z</dcterms:modified>
</cp:coreProperties>
</file>